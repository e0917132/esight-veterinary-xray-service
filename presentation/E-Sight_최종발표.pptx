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D2EBAB-0EEE-494C-9633-103B940A540B}">
  <a:tblStyle styleId="{ABD2EBAB-0EEE-494C-9633-103B940A54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AA4FD32-8356-4CA7-A824-87DD62895576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1DC7825B-A114-4039-B4B5-C50D32779833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안녕하세요, 5팀 E-Sight입니다.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저희 과제명은 "멀티모달 AI를 활용한 동물병원 판독 자동화 및 보호자 맞춤 설명문 제공 서비스"입니다.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앞부분은 제가 프로젝트 개요와 수행 절차를, 뒷부분은 엄태은 님이 분석 결과와 개선안을 발표하겠습니다.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h40c56c69c4db0c54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h40c56c69c4db0c54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출처: 행정안전부 동물병원 인허가 데이터(LOCALDATA 전국 파일, 2026-09-28 갱신) · 영업/정상만 집계</a:t>
            </a:r>
            <a:br>
              <a:rPr lang="en-US"/>
            </a:br>
            <a:r>
              <a:rPr lang="en-US"/>
              <a:t>610곳은 과제 시나리오(OZ헬스 애니멀 사업부) 수치.</a:t>
            </a:r>
            <a:endParaRPr/>
          </a:p>
        </p:txBody>
      </p:sp>
      <p:sp>
        <p:nvSpPr>
          <p:cNvPr id="36" name="Google Shape;36;h40c56c69c4db0c54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40c56c69c4db0c54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h40c56c69c4db0c54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출처: 행정안전부 동물병원 인허가 데이터(LOCALDATA 전국 파일, 2026-09-28 갱신) · 영업/정상만 집계</a:t>
            </a:r>
            <a:endParaRPr/>
          </a:p>
        </p:txBody>
      </p:sp>
      <p:sp>
        <p:nvSpPr>
          <p:cNvPr id="61" name="Google Shape;61;h40c56c69c4db0c54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먼저 저희가 이 과제를 시작한 이유입니다.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헬스케어 AI 시장은 2026년 536억 달러에서 2031년 2,514억 달러로, 연평균 36% 넘게 성장할 것으로 전망됩니다.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그런데 성장의 모양이 갈라지고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영상 한 장을 판독해 주고 건당 돈을 받는 단품 AI는 성장의 한계에 부딪혔고,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반대로 병원의 업무 흐름 안에 들어간 플랫폼형 서비스는 매출이 크게 늘었습니다.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또 하나의 변화는 경쟁의 축이 "영상"에서 "영상 + 기록 + 검사수치"를 함께 다루는 멀티모달로 옮겨가고 있다는 점입니다.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반려동물 영역도 마찬가지입니다. 국내 반려동물 시장은 2022년 8.5조 원에서 2032년 21조 원 규모로 성장이 전망되고,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경쟁의 기준은 "영상을 얼마나 잘 읽는가"에서 "차트·검사결과·처방이력까지 묶어 병원 업무 안에 얼마나 오래 남는가"로 바뀌고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그렇다면 저희 회사, OZ헬스는 어떤 상황일까요.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매출은 2026년 상반기에 전년 동기 대비 3.1% 줄었고,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계약 갱신율은 2024년 94%에서 2025년 88%, 올해 상반기 81%로 계속 떨어지고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원인은 두 가지입니다.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첫째, 매출의 74%가 판독·점검 건당 과금이라, 병원이 검사를 줄이면 저희 매출도 그대로 줄어듭니다.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둘째, 10년간 쌓은 데이터가 사업부별로 따로 떨어져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애니멀 사업부는 동물병원 610곳의 영상을 읽지만, 그 동물의 검사수치와 처방 기록은 다른 시스템에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한 문장으로 정리하면, 저희는 "멀티모달 데이터는 있지만, 멀티모달 서비스는 없는 회사"입니다.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그래서 저희는 애니멀 사업부의 영상에 검사수치와 투약 이력을 결합해,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수의사에게는 판독 초안을, 보호자에게는 이해하기 쉬운 설명문을 제공하는 서비스를 제안합니다.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건당 판독이 아니라 병원 업무 흐름 안에 남는 구독형 도구로 만드는 것이 핵심입니다.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목표 지표는 다음과 같이 잡았습니다.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[팀 확정 필요 — 예시]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- 애니멀 사업부 계약 갱신율: 81% → 95% (가중치 40%)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- 구독 매출 비중: 5% → 20% (가중치 30%)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- 수의사 판독 소요 시간 단축률: 30%</a:t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저희 팀은 다섯 명입니다.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김지영 님이 총괄과 데이터 결합 구조 시연,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저 전은지가 특성요인도·변수정의서·분석계획서 설계,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엄태은 님이 실데이터 정제와 통계 분석,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신혜원 님이 시장 규모와 보호자 관점·규제 조사를 맡았습니다.</a:t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다음은 수행 절차입니다.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먼저 서비스 성능에 영향을 주는 요인을 특성요인도, 흔히 어골도라고 부르는 그림으로 정리했습니다.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영상, 혈액검사, 처방, 개체 정보부터 법·규제까지 11개 영역에서 528개 인자를 뽑았습니다.</a:t>
            </a:r>
            <a:endParaRPr/>
          </a:p>
        </p:txBody>
      </p:sp>
      <p:sp>
        <p:nvSpPr>
          <p:cNvPr id="228" name="Google Shape;228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그다음 각 인자를 "서비스에 얼마나 중요한가"와 "얼마나 쉽게 확보할 수 있는가" 두 기준으로 1·3·9점을 매겼습니다.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5점 척도 대신 9점을 쓴 이유는, "반드시 필요한 것"과 "있으면 좋은 것"의 차이를 점수에서 확실히 벌리기 위해서입니다.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 결과 104개 인자를 "즉시 착수" 대상으로 분류했습니다.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그런데 실제 데이터를 받아 보니 계획과 차이가 있었습니다.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메인 데이터는 AI Hub의 반려동물 근골격계 X-ray 라벨 1만 6,618건인데,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즉시 착수 104개 중 이 데이터로 바로 분석할 수 있는 변수는 12개였고, 품종과 체중은 아예 없었습니다.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그래서 계획을 실제 데이터에 맞게 다시 짰습니다.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이번 분석에는 목표 변수인 이상소견 여부, 층별화 변수인 질환군·축종·성별·나이·병원 등 19개 변수만 사용했고,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실데이터에 없는 혈액수치와 투약 이력은 가상 데이터로 만들어 "결합 구조가 작동하는지"를 검증하는 용도로만 썼습니다.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528개 인자 설계는 서비스가 확장될 때의 데이터 로드맵으로 유지합니다.</a:t>
            </a:r>
            <a:endParaRPr/>
          </a:p>
        </p:txBody>
      </p:sp>
      <p:sp>
        <p:nvSpPr>
          <p:cNvPr id="425" name="Google Shape;4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" name="Google Shape;490;p12:notes"/>
          <p:cNvSpPr/>
          <p:nvPr>
            <p:ph idx="2" type="sldImg"/>
          </p:nvPr>
        </p:nvSpPr>
        <p:spPr>
          <a:xfrm>
            <a:off x="1143220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p13:notes"/>
          <p:cNvSpPr/>
          <p:nvPr>
            <p:ph idx="2" type="sldImg"/>
          </p:nvPr>
        </p:nvSpPr>
        <p:spPr>
          <a:xfrm>
            <a:off x="1143220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p14:notes"/>
          <p:cNvSpPr/>
          <p:nvPr>
            <p:ph idx="2" type="sldImg"/>
          </p:nvPr>
        </p:nvSpPr>
        <p:spPr>
          <a:xfrm>
            <a:off x="1143220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재설계 후의 분석용 변수 정의서와</a:t>
            </a:r>
            <a:endParaRPr/>
          </a:p>
        </p:txBody>
      </p:sp>
      <p:sp>
        <p:nvSpPr>
          <p:cNvPr id="565" name="Google Shape;5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분석은 네 단계로 진행했습니다.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데이터 통합과 품질 점검, 층별로 나눠 보는 탐색적 분석, 그룹 간 차이의 통계 검정,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그리고 결과를 서비스 설계로 연결하는 판독 보조 모델 구축 및 공유 단계입니다.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이제 실제 분석 결과는 엄태은 님이 이어서 발표하겠습니다.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이어서 분석 결과를 말씀드리겠습니다. 엄태은입니다.</a:t>
            </a:r>
            <a:endParaRPr/>
          </a:p>
        </p:txBody>
      </p:sp>
      <p:sp>
        <p:nvSpPr>
          <p:cNvPr id="586" name="Google Shape;58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분석에 사용한 데이터는 반려동물 근골격계 X-ray 1만 6,618장의 라벨입니다.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강아지가 1만 5,014장, 고양이가 1,604장이고, 21개 동물병원에서 2004년부터 2021년까지 촬영됐습니다.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 중 이상소견은 1,750장, 약 10.5%입니다.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참고로 이 데이터는 AI Hub 원본 16만 건 중 약 10%를 뽑은 실습 샘플이라, 이후 숫자는 모두 샘플 기준입니다.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이상소견 여부를 목표 변수로 두고, 어떤 요인이 이상소견과 관련 있는지 살펴봤습니다.</a:t>
            </a:r>
            <a:endParaRPr/>
          </a:p>
        </p:txBody>
      </p:sp>
      <p:sp>
        <p:nvSpPr>
          <p:cNvPr id="592" name="Google Shape;592;p18:notes"/>
          <p:cNvSpPr/>
          <p:nvPr>
            <p:ph idx="2" type="sldImg"/>
          </p:nvPr>
        </p:nvSpPr>
        <p:spPr>
          <a:xfrm>
            <a:off x="1143220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✭이 내용이 들어가야할 것 같아서 추가해봤습니다✭ 추가/삭제 의견 주세요!</a:t>
            </a:r>
            <a:endParaRPr/>
          </a:p>
        </p:txBody>
      </p:sp>
      <p:sp>
        <p:nvSpPr>
          <p:cNvPr id="634" name="Google Shape;63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첫 번째 결과입니다.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 데이터의 영상에는 "어떤 질환을 의심해서 찍었는지"를 뜻하는 7개 질환군 코드가 붙어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질환군별로 이상소견 비율을 보면 차이가 매우 큽니다.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슬개골탈구는 47.2%, 두 장 중 한 장꼴로 이상인데,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골격계 종양은 0.3%, 300장 중 한 장꼴입니다. 약 150배 차이입니다.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또 전체 이상소견 1,750건 중 1,180건, 67%가 슬개골탈구 한 질환군에 몰려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이것이 의미하는 바는 두 가지입니다.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첫째, 모든 영상을 같은 순서로 보는 것은 비효율적이고, 이상 가능성이 높은 영상을 먼저 보여주는 "선별 기능"이 필요합니다.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둘째, 골격계 종양처럼 드물지만 위험한 케이스는 오히려 사람 눈으로 놓치기 쉬워서, 이를 걸러주는 안전망 역할도 필요합니다.</a:t>
            </a:r>
            <a:endParaRPr/>
          </a:p>
        </p:txBody>
      </p:sp>
      <p:sp>
        <p:nvSpPr>
          <p:cNvPr id="647" name="Google Shape;64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두 번째 결과입니다.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여러 변수가 이상소견과 얼마나 관련 있는지 카이제곱 검정으로 확인했습니다.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데이터가 1만 6천 건으로 많아서 모든 변수가 통계적으로는 유의하게 나왔기 때문에,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관련의 "강도"를 0에서 1 사이로 보여주는 크래머 V를 기준으로 판단했습니다.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질환군은 0.51로 강한 관련이 있었고, 병원은 0.22로 중간 정도였습니다.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반면 나이, 성별, 중성화 여부는 0.04에서 0.07로, 관련이 매우 약했습니다.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즉, 동물의 기본 정보만으로는 이상 여부를 거의 가려낼 수 없습니다.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이것이 저희가 영상 하나만이 아니라, 영상과 검사수치, 투약 이력을 함께 보는 멀티모달 서비스를 제안하는 데이터 근거입니다.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8" name="Google Shape;66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세 번째 결과는 병원 간 차이입니다.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병원마다 이상 판정률이 달랐는데, 이건 단순히 병원마다 찍는 질환이 달라서일 수도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그래서 각 병원의 질환군과 축종 구성을 감안했을 때 "기대되는 이상률"을 계산하고,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실제 이상률을 기대 이상률로 나눈 값, O/E를 비교했습니다. 1이면 기대만큼, 2면 기대의 두 배를 이상으로 판정했다는 뜻입니다.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비율이 불안정한 100장 미만 병원은 제외했고,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 결과 1,000장 이상 촬영한 대형 병원끼리만 비교해도 최대 3.8배 차이가 났습니다.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100장 이상 병원 전체로 보면 최대 25배까지 벌어집니다.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같은 종류의 영상을 보더라도 병원마다 이상 판정 기준에 편차가 있을 수 있다는 뜻입니다.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AI 판독 보조는 병원들이 참고할 수 있는 공통 기준선 역할을 할 수 있고,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610개 병원과 거래하는 저희 애니멀 사업부에게는 판독 품질을 맞추는 표준화 서비스의 근거가 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다만 이 차이는 전원 병원이라 중증 환자가 많거나 하는 이유일 수도 있어서, "오진"이 아니라 "판정 편차"로 해석했습니다.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분석 과정에서 두 가지를 추가로 점검했습니다.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하나는 촬영 자세입니다. 처음엔 촬영 자세도 이상소견과 강하게 관련 있어 보였는데,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확인해 보니 슬개골은 앞뒤 방향, 척추는 옆 방향처럼 질환군마다 촬영 자세가 거의 정해져 있었습니다.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즉 자세 자체가 아니라 질환군의 영향이 섞여 보인 것, 교란이었기 때문에 결론에서 제외했습니다.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다른 하나는 고양이 데이터입니다. 고양이의 이상소견은 26건뿐입니다.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보조로 확인한 AI Hub 건강정보 데이터에서도 고양이는 약 1%에 불과했습니다.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공개 데이터만으로는 고양이 AI 진단을 만들기 어렵다는 뜻이고,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반대로 610개 병원의 데이터를 가진 저희에게는 이 데이터를 확보하는 것 자체가 경쟁력이 됩니다.</a:t>
            </a:r>
            <a:endParaRPr/>
          </a:p>
        </p:txBody>
      </p:sp>
      <p:sp>
        <p:nvSpPr>
          <p:cNvPr id="712" name="Google Shape;71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분석에 쓴 X-ray 데이터에는 혈액검사와 투약 기록이 없어서, 실데이터 형식에 맞춘 가상 데이터로 결합 구조를 구현했습니다.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한 마리를 예로 따라가 보겠습니다.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개체 표에는 이 강아지가 암컷이고, 0028번 병원에 다니고, 체중이 8.5kg이라는 정보가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 개체 ID를 따라가면 영상 표에서 2020년 3월에 찍은 무릎 X-ray가 나오고, 슬개골탈구 의심에 이상 판정입니다.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다시 이 영상 ID를 따라가면, 같은 시점의 혈액검사 여섯 항목과 소염진통제와 진통제 처방 두 건이 붙어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이렇게 한 마리에 영상 여러 장, 영상마다 검사와 처방이 붙는 1대 다 구조이고,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영상 ID는 실제 X-ray 라벨의 파일명 형식을 그대로 써서 실제 데이터에도 바로 붙일 수 있습니다.</a:t>
            </a:r>
            <a:endParaRPr/>
          </a:p>
        </p:txBody>
      </p:sp>
      <p:sp>
        <p:nvSpPr>
          <p:cNvPr id="741" name="Google Shape;74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실제 병원 데이터를 합치려면 먼저 해결해야 할 문제가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같은 백혈구 검사도 병원마다 "WBC", "wbc", "백혈구"처럼 다르게 적고,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크레아티닌은 단위가 다른 경우도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그래서 결합 전에 검사 코드를 표준 코드로 통일하고, 단위를 맞추고, 빠진 값과 입력 오류로 10배 튄 값을 처리하는 과정을 거쳤습니다.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 가상 데이터는 결합 구조와 전처리 과정을 보여주기 위한 것이라, 여기서 나온 수치 차이는 분석 결론에 사용하지 않았습니다.</a:t>
            </a:r>
            <a:endParaRPr/>
          </a:p>
        </p:txBody>
      </p:sp>
      <p:sp>
        <p:nvSpPr>
          <p:cNvPr id="756" name="Google Shape;75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정리하면 세 가지입니다.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첫째, 이상소견은 특정 질환군에 몰려 있고 드문 고위험 케이스도 있어서, 선별 기능이 필요합니다.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둘째, 기본 정보만으로는 이상 여부를 가려낼 수 없어서, 영상과 검사를 함께 보는 멀티모달이 필요합니다.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셋째, 병원 간 판정 편차가 커서, 공통 기준선이 되는 판독 보조가 필요합니다.</a:t>
            </a:r>
            <a:endParaRPr/>
          </a:p>
        </p:txBody>
      </p:sp>
      <p:sp>
        <p:nvSpPr>
          <p:cNvPr id="782" name="Google Shape;78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[팀 확정 필요 — 분석 결과에서 나온 초안]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 인사이트를 바탕으로 세 단계의 개선안을 제안합니다.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1단계는 슬개골탈구 선별 파일럿입니다.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이상소견의 67%가 몰린 질환부터 시작하면 가장 적은 투자로 가장 큰 효과를 볼 수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판독 대기 목록에서 이상 가능성이 높은 영상을 위로 올리고, 종양처럼 드문 고위험 소견은 별도 알림을 띄웁니다.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2단계는 병원별 판정 리포트입니다.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각 병원에 "질환군 구성을 감안한 우리 병원의 판정 성향"을 정기적으로 보여주는 리포트를 구독 서비스로 제공합니다.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이건 건당 판독이 아니라 병원이 계속 쓰게 되는 서비스라, 계약 갱신율을 올리는 장치가 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3단계는 멀티모달 판독 초안과 보호자 설명문입니다.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영상에 검사수치와 투약 이력을 결합해 수의사용 판독 초안을 만들고,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수의사가 승인한 내용만 보호자가 이해하기 쉬운 설명문으로 바꿔 전달합니다.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수의사법상 진단의 주체는 수의사이기 때문에, AI가 단독으로 결론을 내리지 않고 반드시 수의사 승인을 거치도록 설계했습니다.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이를 통해 건당 과금 중심의 매출 구조를 구독형으로 전환하고, 앞에서 제시한 갱신율과 구독 매출 목표를 달성하고자 합니다.</a:t>
            </a:r>
            <a:endParaRPr/>
          </a:p>
        </p:txBody>
      </p:sp>
      <p:sp>
        <p:nvSpPr>
          <p:cNvPr id="814" name="Google Shape;81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2" name="Google Shape;84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마지막으로 자체 평가입니다.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잘한 점은, 계획 단계에서 넓게 설계한 뒤 실제 데이터에 맞춰 빠르게 범위를 조정했고,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교란 요인 점검과 보정 비교처럼 결과를 한 번 더 검증하는 과정을 거쳤다는 점입니다.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아쉬운 점은, 같은 동물의 영상·검사·투약이 모두 있는 실제 데이터를 확보하지 못해 결합 효과를 실데이터로 증명하지 못한 것입니다.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향후에는 협력 동물병원의 실제 데이터로 이 결합 효과를 검증하고, 흉부·복부 영상으로도 같은 형식으로 확장할 계획입니다.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48" name="Google Shape;84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이상으로 E-Sight의 발표를 마치겠습니다. 감사합니다.</a:t>
            </a:r>
            <a:endParaRPr/>
          </a:p>
        </p:txBody>
      </p:sp>
      <p:sp>
        <p:nvSpPr>
          <p:cNvPr id="871" name="Google Shape;87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8" name="Google Shape;87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0" type="dt"/>
          </p:nvPr>
        </p:nvSpPr>
        <p:spPr>
          <a:xfrm>
            <a:off x="457201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1" type="ftr"/>
          </p:nvPr>
        </p:nvSpPr>
        <p:spPr>
          <a:xfrm>
            <a:off x="3124206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6553213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83A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/>
        </p:nvSpPr>
        <p:spPr>
          <a:xfrm>
            <a:off x="1005840" y="14173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FB8B3"/>
                </a:solidFill>
                <a:latin typeface="Malgun Gothic"/>
                <a:ea typeface="Malgun Gothic"/>
                <a:cs typeface="Malgun Gothic"/>
                <a:sym typeface="Malgun Gothic"/>
              </a:rPr>
              <a:t>5팀  E-Sight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1005840" y="1965960"/>
            <a:ext cx="102412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멀티모달 AI를 활용한 동물병원 판독 자동화 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보호자 맞춤 설명문 제공 서비스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 txBox="1"/>
          <p:nvPr/>
        </p:nvSpPr>
        <p:spPr>
          <a:xfrm>
            <a:off x="1005840" y="36118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EB9C2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 × 검사 × 처방 데이터를 하나로 잇는 판독 보조 · 설명문 구독 서비스 기획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Google Shape;22;p4"/>
          <p:cNvCxnSpPr/>
          <p:nvPr/>
        </p:nvCxnSpPr>
        <p:spPr>
          <a:xfrm>
            <a:off x="1005840" y="4343400"/>
            <a:ext cx="2926200" cy="0"/>
          </a:xfrm>
          <a:prstGeom prst="straightConnector1">
            <a:avLst/>
          </a:prstGeom>
          <a:noFill/>
          <a:ln cap="flat" cmpd="sng" w="9525">
            <a:solidFill>
              <a:srgbClr val="3B52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" name="Google Shape;23;p4"/>
          <p:cNvSpPr txBox="1"/>
          <p:nvPr/>
        </p:nvSpPr>
        <p:spPr>
          <a:xfrm>
            <a:off x="1005840" y="452628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FB8B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전은지 · 엄태은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1005840" y="48920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FB8B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김지영(팀장) · 전은지 · 신혜원 · 엄태은 · 이지희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1005840" y="5989320"/>
            <a:ext cx="100584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A97A3"/>
                </a:solidFill>
                <a:latin typeface="Malgun Gothic"/>
                <a:ea typeface="Malgun Gothic"/>
                <a:cs typeface="Malgun Gothic"/>
                <a:sym typeface="Malgun Gothic"/>
              </a:rPr>
              <a:t>OZ코딩스쿨 AI 헬스케어  ·  Team Mission  ·  2026. 10.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83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/>
        </p:nvSpPr>
        <p:spPr>
          <a:xfrm>
            <a:off x="1005840" y="2286000"/>
            <a:ext cx="2011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</a:pPr>
            <a:r>
              <a:rPr b="1" i="0" lang="en-US" sz="76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"/>
          <p:cNvSpPr txBox="1"/>
          <p:nvPr/>
        </p:nvSpPr>
        <p:spPr>
          <a:xfrm>
            <a:off x="3017520" y="2606040"/>
            <a:ext cx="822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 txBox="1"/>
          <p:nvPr/>
        </p:nvSpPr>
        <p:spPr>
          <a:xfrm>
            <a:off x="3063240" y="3429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FB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· 왜 · 어디까지 — 프로젝트의 방향과 목표 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502920" y="384048"/>
            <a:ext cx="82200" cy="82200"/>
          </a:xfrm>
          <a:prstGeom prst="rect">
            <a:avLst/>
          </a:prstGeom>
          <a:solidFill>
            <a:srgbClr val="0E6E76"/>
          </a:solidFill>
          <a:ln cap="flat" cmpd="sng" w="12700">
            <a:solidFill>
              <a:srgbClr val="0E6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 txBox="1"/>
          <p:nvPr/>
        </p:nvSpPr>
        <p:spPr>
          <a:xfrm>
            <a:off x="713232" y="301752"/>
            <a:ext cx="914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Arial"/>
                <a:ea typeface="Arial"/>
                <a:cs typeface="Arial"/>
                <a:sym typeface="Arial"/>
              </a:rPr>
              <a:t>시장조사 · 동물병원 표준데이터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 txBox="1"/>
          <p:nvPr/>
        </p:nvSpPr>
        <p:spPr>
          <a:xfrm>
            <a:off x="502920" y="585216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국내 고객 시장 — E-Sight의 고객은 동물병원이다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/>
          <p:nvPr/>
        </p:nvSpPr>
        <p:spPr>
          <a:xfrm>
            <a:off x="502920" y="1051560"/>
            <a:ext cx="1120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Arial"/>
                <a:ea typeface="Arial"/>
                <a:cs typeface="Arial"/>
                <a:sym typeface="Arial"/>
              </a:rPr>
              <a:t>구독형 판독 보조(B2B)라 고객 수 = 동물병원 수 · 전국 인허가 10,635건 중 영업/정상 5,482곳 기준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6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12700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3" name="Google Shape;43;p6"/>
          <p:cNvGraphicFramePr/>
          <p:nvPr/>
        </p:nvGraphicFramePr>
        <p:xfrm>
          <a:off x="50292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{ABD2EBAB-0EEE-494C-9633-103B940A540B}</a:tableStyleId>
              </a:tblPr>
              <a:tblGrid>
                <a:gridCol w="2743200"/>
                <a:gridCol w="4572000"/>
                <a:gridCol w="38862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공공데이터에서 뽑은 것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시장조사에서 의미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결과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영업 중인 동물병원 수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76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E6E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시장 크기</a:t>
                      </a: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팔 수 있는 병원이 전국에 몇 곳인지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76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E6E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5,482곳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자사 610곳 ÷ 전국 병원 수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76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E6E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현재 점유율</a:t>
                      </a: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아직 늘릴 여지가 얼마나 있는지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76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E6E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11% · 나머지 약 4,900곳이 확장 여지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시도별 분포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76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E6E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어디부터 공략할지</a:t>
                      </a: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파일럿·영업 우선 지역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76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E6E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수도권(경기·서울·인천) 48%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연도별 개업·폐업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76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E6E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시장이 크는지</a:t>
                      </a: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매년 새로 생기는 병원 = 새 고객 후보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E76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E6E7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2021~25 연평균 개업 288곳 · 순증 약 130곳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0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" name="Google Shape;44;p6"/>
          <p:cNvSpPr/>
          <p:nvPr/>
        </p:nvSpPr>
        <p:spPr>
          <a:xfrm>
            <a:off x="502920" y="4206240"/>
            <a:ext cx="2651700" cy="1326000"/>
          </a:xfrm>
          <a:prstGeom prst="rect">
            <a:avLst/>
          </a:prstGeom>
          <a:solidFill>
            <a:srgbClr val="EEF1F2"/>
          </a:solidFill>
          <a:ln cap="flat" cmpd="sng" w="12700">
            <a:solidFill>
              <a:srgbClr val="EE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/>
          <p:nvPr/>
        </p:nvSpPr>
        <p:spPr>
          <a:xfrm>
            <a:off x="731520" y="434340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7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E6E76"/>
                </a:solidFill>
                <a:latin typeface="Arial"/>
                <a:ea typeface="Arial"/>
                <a:cs typeface="Arial"/>
                <a:sym typeface="Arial"/>
              </a:rPr>
              <a:t>5,482곳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731520" y="4983480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680"/>
                </a:solidFill>
                <a:latin typeface="Arial"/>
                <a:ea typeface="Arial"/>
                <a:cs typeface="Arial"/>
                <a:sym typeface="Arial"/>
              </a:rPr>
              <a:t>전국 영업 동물병원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3352190" y="4206240"/>
            <a:ext cx="2651700" cy="1326000"/>
          </a:xfrm>
          <a:prstGeom prst="rect">
            <a:avLst/>
          </a:prstGeom>
          <a:solidFill>
            <a:srgbClr val="EEF1F2"/>
          </a:solidFill>
          <a:ln cap="flat" cmpd="sng" w="12700">
            <a:solidFill>
              <a:srgbClr val="EE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/>
          <p:nvPr/>
        </p:nvSpPr>
        <p:spPr>
          <a:xfrm>
            <a:off x="3580790" y="434340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7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E6E76"/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 txBox="1"/>
          <p:nvPr/>
        </p:nvSpPr>
        <p:spPr>
          <a:xfrm>
            <a:off x="3580790" y="4983480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680"/>
                </a:solidFill>
                <a:latin typeface="Arial"/>
                <a:ea typeface="Arial"/>
                <a:cs typeface="Arial"/>
                <a:sym typeface="Arial"/>
              </a:rPr>
              <a:t>수도권 집중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6201461" y="4206240"/>
            <a:ext cx="2651700" cy="1326000"/>
          </a:xfrm>
          <a:prstGeom prst="rect">
            <a:avLst/>
          </a:prstGeom>
          <a:solidFill>
            <a:srgbClr val="EEF1F2"/>
          </a:solidFill>
          <a:ln cap="flat" cmpd="sng" w="12700">
            <a:solidFill>
              <a:srgbClr val="EE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6430061" y="434340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7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E6E76"/>
                </a:solidFill>
                <a:latin typeface="Arial"/>
                <a:ea typeface="Arial"/>
                <a:cs typeface="Arial"/>
                <a:sym typeface="Arial"/>
              </a:rPr>
              <a:t>연 288곳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 txBox="1"/>
          <p:nvPr/>
        </p:nvSpPr>
        <p:spPr>
          <a:xfrm>
            <a:off x="6430061" y="4983480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680"/>
                </a:solidFill>
                <a:latin typeface="Arial"/>
                <a:ea typeface="Arial"/>
                <a:cs typeface="Arial"/>
                <a:sym typeface="Arial"/>
              </a:rPr>
              <a:t>신규 개업 (2021~25 평균)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9050731" y="4206240"/>
            <a:ext cx="2651700" cy="1326000"/>
          </a:xfrm>
          <a:prstGeom prst="rect">
            <a:avLst/>
          </a:prstGeom>
          <a:solidFill>
            <a:srgbClr val="EEF1F2"/>
          </a:solidFill>
          <a:ln cap="flat" cmpd="sng" w="12700">
            <a:solidFill>
              <a:srgbClr val="EEF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9279331" y="434340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7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E6E76"/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9279331" y="4983480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680"/>
                </a:solidFill>
                <a:latin typeface="Arial"/>
                <a:ea typeface="Arial"/>
                <a:cs typeface="Arial"/>
                <a:sym typeface="Arial"/>
              </a:rPr>
              <a:t>자사 거래처 610곳의 비중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502920" y="5897880"/>
            <a:ext cx="11201400" cy="567000"/>
          </a:xfrm>
          <a:prstGeom prst="rect">
            <a:avLst/>
          </a:prstGeom>
          <a:solidFill>
            <a:srgbClr val="1F2933"/>
          </a:solidFill>
          <a:ln cap="flat" cmpd="sng" w="12700">
            <a:solidFill>
              <a:srgbClr val="1F2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777240" y="5897880"/>
            <a:ext cx="10652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 거시 시장(헬스케어 AI·반려동물)을 '우리 고객 시장'으로 좁히면 — 동물병원 5,482곳, 자사는 아직 11%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502920" y="384048"/>
            <a:ext cx="82200" cy="82200"/>
          </a:xfrm>
          <a:prstGeom prst="rect">
            <a:avLst/>
          </a:prstGeom>
          <a:solidFill>
            <a:srgbClr val="0E6E76"/>
          </a:solidFill>
          <a:ln cap="flat" cmpd="sng" w="12700">
            <a:solidFill>
              <a:srgbClr val="0E6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 txBox="1"/>
          <p:nvPr/>
        </p:nvSpPr>
        <p:spPr>
          <a:xfrm>
            <a:off x="713232" y="301752"/>
            <a:ext cx="914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Arial"/>
                <a:ea typeface="Arial"/>
                <a:cs typeface="Arial"/>
                <a:sym typeface="Arial"/>
              </a:rPr>
              <a:t>시장조사 · 동물병원 표준데이터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502920" y="585216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수도권에 48%가 몰려 있고, 매년 개업이 폐업보다 많다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502920" y="1051560"/>
            <a:ext cx="1120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Arial"/>
                <a:ea typeface="Arial"/>
                <a:cs typeface="Arial"/>
                <a:sym typeface="Arial"/>
              </a:rPr>
              <a:t>시도별 영업 동물병원 수 · 연도별 개업(인허가)·폐업 건수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7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12700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7"/>
          <p:cNvSpPr txBox="1"/>
          <p:nvPr/>
        </p:nvSpPr>
        <p:spPr>
          <a:xfrm>
            <a:off x="502920" y="1645920"/>
            <a:ext cx="5394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시도별 영업 동물병원 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965960"/>
            <a:ext cx="5394900" cy="37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/>
          <p:nvPr/>
        </p:nvSpPr>
        <p:spPr>
          <a:xfrm>
            <a:off x="6263640" y="1645920"/>
            <a:ext cx="544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연도별 개업·폐업 건수 (2012~2025)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3640" y="1965960"/>
            <a:ext cx="54408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7"/>
          <p:cNvSpPr txBox="1"/>
          <p:nvPr/>
        </p:nvSpPr>
        <p:spPr>
          <a:xfrm>
            <a:off x="6263640" y="5440680"/>
            <a:ext cx="544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Arial"/>
                <a:ea typeface="Arial"/>
                <a:cs typeface="Arial"/>
                <a:sym typeface="Arial"/>
              </a:rPr>
              <a:t>2026년은 9/28까지 부분 연도라 제외(개업 188 · 폐업 90). 2021~25 평균 개업 288 · 폐업 154.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502920" y="5897880"/>
            <a:ext cx="11201400" cy="567000"/>
          </a:xfrm>
          <a:prstGeom prst="rect">
            <a:avLst/>
          </a:prstGeom>
          <a:solidFill>
            <a:srgbClr val="1F2933"/>
          </a:solidFill>
          <a:ln cap="flat" cmpd="sng" w="12700">
            <a:solidFill>
              <a:srgbClr val="1F2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777240" y="5897880"/>
            <a:ext cx="10652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 파일럿·영업은 수도권부터 — 신규 개업 병원이 매년 새 고객 후보로 들어온다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8"/>
          <p:cNvSpPr txBox="1"/>
          <p:nvPr/>
        </p:nvSpPr>
        <p:spPr>
          <a:xfrm>
            <a:off x="713232" y="292608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Calibri"/>
                <a:ea typeface="Calibri"/>
                <a:cs typeface="Calibri"/>
                <a:sym typeface="Calibri"/>
              </a:rPr>
              <a:t>01  과제 정의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8"/>
          <p:cNvSpPr txBox="1"/>
          <p:nvPr/>
        </p:nvSpPr>
        <p:spPr>
          <a:xfrm>
            <a:off x="502920" y="566928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F2933"/>
                </a:solidFill>
                <a:latin typeface="Cambria"/>
                <a:ea typeface="Cambria"/>
                <a:cs typeface="Cambria"/>
                <a:sym typeface="Cambria"/>
              </a:rPr>
              <a:t>추진배경 ① 시장 — 경쟁의 기준이 바뀌었다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502920" y="1060704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Calibri"/>
                <a:ea typeface="Calibri"/>
                <a:cs typeface="Calibri"/>
                <a:sym typeface="Calibri"/>
              </a:rPr>
              <a:t>시장 성장 · 경쟁 축의 이동 · 충족되지 않은 고객 니즈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8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4" name="Google Shape;84;p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9D0D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502920" y="1691640"/>
            <a:ext cx="11201400" cy="566928"/>
          </a:xfrm>
          <a:prstGeom prst="rect">
            <a:avLst/>
          </a:prstGeom>
          <a:solidFill>
            <a:srgbClr val="EEF1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731520" y="1691640"/>
            <a:ext cx="10744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시장은 ‘더 잘 읽는 AI’가 아니라 ‘설명하고 오래 붙잡는 AI’에 값을 치르고 있다 — 경쟁의 축이 영상에서 언어 · 멀티모달로 옮겨갔다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502920" y="245059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시장 성장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8"/>
          <p:cNvCxnSpPr/>
          <p:nvPr/>
        </p:nvCxnSpPr>
        <p:spPr>
          <a:xfrm>
            <a:off x="502920" y="2834640"/>
            <a:ext cx="361188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9" name="Google Shape;89;p8"/>
          <p:cNvSpPr txBox="1"/>
          <p:nvPr/>
        </p:nvSpPr>
        <p:spPr>
          <a:xfrm>
            <a:off x="576072" y="2962656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글로벌 헬스케어 AI 536억 달러(2026) → 2,514억 달러(2031)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연평균 36.2% 성장, 아시아·태평양이 연 39.7%로 가장 빠름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국내 반려동물 시장 8.5조 원(2022) → 21조 원(2032) 전망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시장의 크기가 아니라, 그 안에서 어떤 형태의 서비스가 성장하는지가 갈렸다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"/>
          <p:cNvSpPr txBox="1"/>
          <p:nvPr/>
        </p:nvSpPr>
        <p:spPr>
          <a:xfrm>
            <a:off x="4297680" y="245059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경쟁 축의 이동 — 영상에서 언어·멀티모달로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8"/>
          <p:cNvCxnSpPr/>
          <p:nvPr/>
        </p:nvCxnSpPr>
        <p:spPr>
          <a:xfrm>
            <a:off x="4297680" y="2834640"/>
            <a:ext cx="361188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2" name="Google Shape;92;p8"/>
          <p:cNvSpPr txBox="1"/>
          <p:nvPr/>
        </p:nvSpPr>
        <p:spPr>
          <a:xfrm>
            <a:off x="4370832" y="2962656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미국 진료 대화 자동기록(ambient scribe) 기업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기업가치 53억 달러 · ARR 1억 달러 이상 · 도입 의료기관 250곳 이상(2024년 약 100곳의 2.5배). 영상이 아니라 ‘의사가 환자와 나눈 말’을 다루는 회사가 가장 비싼 기업이 되었다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서울대병원 한국형 의료 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EMR·PACS·디지털병리·유전체 3,800만 건으로 의무기록·보험청구·연구지원까지 확장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동물 영역도 같은 재편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2026년 8월 대기업이 운영하던 반려동물 AI 영상판독 서비스가 전문 업체에 인수, 일본 진출·MRI 확장 예고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 txBox="1"/>
          <p:nvPr/>
        </p:nvSpPr>
        <p:spPr>
          <a:xfrm>
            <a:off x="8092440" y="2450592"/>
            <a:ext cx="3612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국내 고객 시장 — 동물 병원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8"/>
          <p:cNvCxnSpPr/>
          <p:nvPr/>
        </p:nvCxnSpPr>
        <p:spPr>
          <a:xfrm>
            <a:off x="8092440" y="2834640"/>
            <a:ext cx="361188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5" name="Google Shape;95;p8"/>
          <p:cNvSpPr/>
          <p:nvPr/>
        </p:nvSpPr>
        <p:spPr>
          <a:xfrm>
            <a:off x="502920" y="5623560"/>
            <a:ext cx="11201400" cy="731520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"/>
          <p:cNvSpPr txBox="1"/>
          <p:nvPr/>
        </p:nvSpPr>
        <p:spPr>
          <a:xfrm>
            <a:off x="777240" y="5623560"/>
            <a:ext cx="10652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보호자는 진단을 불신하는 것이 아니라 설명의 부재를 불신한다. 판독 결과를 보호자의 언어로 옮기는 지점에 아직 비어 있는 수요가 있다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8"/>
          <p:cNvSpPr txBox="1"/>
          <p:nvPr/>
        </p:nvSpPr>
        <p:spPr>
          <a:xfrm>
            <a:off x="8165572" y="2988756"/>
            <a:ext cx="34746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전국 영업 동물병원 5,482곳 (2026.9 기준)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수도권 48% 집중</a:t>
            </a:r>
            <a:r>
              <a:rPr lang="en-US" sz="10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 · 최근 5년 연평균 288곳 신규 개업, 순증 연 약 130곳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자사 거래처 610곳 = 전체의 11%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나머지 약 4,900곳이 확장 여지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/>
          <p:nvPr/>
        </p:nvSpPr>
        <p:spPr>
          <a:xfrm>
            <a:off x="502920" y="384048"/>
            <a:ext cx="82200" cy="82200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9"/>
          <p:cNvSpPr txBox="1"/>
          <p:nvPr/>
        </p:nvSpPr>
        <p:spPr>
          <a:xfrm>
            <a:off x="713232" y="329184"/>
            <a:ext cx="9144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 과제 정의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502920" y="585216"/>
            <a:ext cx="11201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추진배경 ② 자사 현황 — 데이터는 있지만 연결되지 않았다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 txBox="1"/>
          <p:nvPr/>
        </p:nvSpPr>
        <p:spPr>
          <a:xfrm>
            <a:off x="502920" y="1051560"/>
            <a:ext cx="112014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OZ헬스 애니멀 사업부 · 동물병원 610개소 대상 X-ray 판독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9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7" name="Google Shape;107;p9"/>
          <p:cNvSpPr/>
          <p:nvPr/>
        </p:nvSpPr>
        <p:spPr>
          <a:xfrm>
            <a:off x="502920" y="1691640"/>
            <a:ext cx="5212200" cy="3977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9"/>
          <p:cNvSpPr txBox="1"/>
          <p:nvPr/>
        </p:nvSpPr>
        <p:spPr>
          <a:xfrm>
            <a:off x="731520" y="1801368"/>
            <a:ext cx="47550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 — 매출과 갱신율이 함께 떨어지고 있다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731520" y="2240280"/>
            <a:ext cx="17373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868680" y="2443979"/>
            <a:ext cx="15546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−3.1%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9"/>
          <p:cNvSpPr txBox="1"/>
          <p:nvPr/>
        </p:nvSpPr>
        <p:spPr>
          <a:xfrm>
            <a:off x="868680" y="3038339"/>
            <a:ext cx="15546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상반기 · 전년 동기 대비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731520" y="3749039"/>
            <a:ext cx="1737300" cy="1691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868680" y="4003766"/>
            <a:ext cx="15546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−13%p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868680" y="4598126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갱신율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94% → 81%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3년 연속 하락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6040" y="2194560"/>
            <a:ext cx="3017400" cy="32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9"/>
          <p:cNvSpPr/>
          <p:nvPr/>
        </p:nvSpPr>
        <p:spPr>
          <a:xfrm>
            <a:off x="5943600" y="1691640"/>
            <a:ext cx="5760600" cy="1828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6172200" y="1801368"/>
            <a:ext cx="53034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 ①  </a:t>
            </a:r>
            <a:r>
              <a:rPr b="1" i="0" lang="en-US" sz="13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매출의 74%가 판독 · 점검 건당 과금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6172200" y="2286000"/>
            <a:ext cx="3924600" cy="5028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9"/>
          <p:cNvSpPr txBox="1"/>
          <p:nvPr/>
        </p:nvSpPr>
        <p:spPr>
          <a:xfrm>
            <a:off x="6172200" y="2418670"/>
            <a:ext cx="39246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건당 과금 74%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10096804" y="2286000"/>
            <a:ext cx="1113600" cy="502800"/>
          </a:xfrm>
          <a:prstGeom prst="rect">
            <a:avLst/>
          </a:prstGeom>
          <a:solidFill>
            <a:srgbClr val="B8C2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10096804" y="2428875"/>
            <a:ext cx="11136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구축형 SI 21%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11210544" y="2286000"/>
            <a:ext cx="265200" cy="5028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9"/>
          <p:cNvSpPr txBox="1"/>
          <p:nvPr/>
        </p:nvSpPr>
        <p:spPr>
          <a:xfrm>
            <a:off x="10378440" y="2807208"/>
            <a:ext cx="1097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구독 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9"/>
          <p:cNvSpPr txBox="1"/>
          <p:nvPr/>
        </p:nvSpPr>
        <p:spPr>
          <a:xfrm>
            <a:off x="6172200" y="3017520"/>
            <a:ext cx="4114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병원이 검사를 줄이면 자사 매출도 그대로 줄어드는 구조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5943600" y="3657600"/>
            <a:ext cx="5760600" cy="2011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"/>
          <p:cNvSpPr txBox="1"/>
          <p:nvPr/>
        </p:nvSpPr>
        <p:spPr>
          <a:xfrm>
            <a:off x="6172200" y="3767328"/>
            <a:ext cx="53034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 ②  </a:t>
            </a:r>
            <a:r>
              <a:rPr b="1" i="0" lang="en-US" sz="13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10년간 쌓은 데이터가 사업부별로 분리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172200" y="4251960"/>
            <a:ext cx="1463100" cy="868800"/>
          </a:xfrm>
          <a:prstGeom prst="rect">
            <a:avLst/>
          </a:prstGeom>
          <a:solidFill>
            <a:srgbClr val="2C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6161995" y="4407816"/>
            <a:ext cx="1463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X-ray 영상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6161995" y="4773576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CE6E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애니멀 · 610개소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7635240" y="4251960"/>
            <a:ext cx="457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8092440" y="4251960"/>
            <a:ext cx="1463100" cy="86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8082235" y="4407816"/>
            <a:ext cx="1463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검사수치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8082235" y="4773576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시스템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9555480" y="4251960"/>
            <a:ext cx="457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10012680" y="4251960"/>
            <a:ext cx="1463100" cy="86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10002475" y="4407816"/>
            <a:ext cx="1463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처방 기록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10002475" y="4773576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시스템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6172200" y="5230368"/>
            <a:ext cx="53034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동물의 영상 · 검사 · 처방이 한 기준으로 이어지지 않는다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502920" y="5897880"/>
            <a:ext cx="11201400" cy="5670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777240" y="6081576"/>
            <a:ext cx="106527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OZ헬스는 “멀티모달 데이터는 있지만, 멀티모달 서비스는 없는 회사”다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/>
          <p:nvPr/>
        </p:nvSpPr>
        <p:spPr>
          <a:xfrm>
            <a:off x="502920" y="384048"/>
            <a:ext cx="82200" cy="82200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713232" y="329184"/>
            <a:ext cx="9144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 과제 정의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0"/>
          <p:cNvSpPr txBox="1"/>
          <p:nvPr/>
        </p:nvSpPr>
        <p:spPr>
          <a:xfrm>
            <a:off x="502920" y="585216"/>
            <a:ext cx="11201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 기회와 목표 — 병원 업무 흐름 안에 남는 구독형 판독 보조 서비스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502920" y="1051560"/>
            <a:ext cx="112014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애니멀 사업부의 영상에 검사수치와 투약 이력을 결합  ·  건당 판독 → 구독형 전환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10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0" name="Google Shape;150;p10"/>
          <p:cNvSpPr/>
          <p:nvPr/>
        </p:nvSpPr>
        <p:spPr>
          <a:xfrm>
            <a:off x="502920" y="1737360"/>
            <a:ext cx="2194500" cy="457200"/>
          </a:xfrm>
          <a:prstGeom prst="rect">
            <a:avLst/>
          </a:prstGeom>
          <a:solidFill>
            <a:srgbClr val="CDE7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502920" y="1849619"/>
            <a:ext cx="2194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X-ray 영상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502920" y="2304288"/>
            <a:ext cx="2194500" cy="457200"/>
          </a:xfrm>
          <a:prstGeom prst="rect">
            <a:avLst/>
          </a:prstGeom>
          <a:solidFill>
            <a:srgbClr val="CDE7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"/>
          <p:cNvSpPr txBox="1"/>
          <p:nvPr/>
        </p:nvSpPr>
        <p:spPr>
          <a:xfrm>
            <a:off x="502920" y="2416547"/>
            <a:ext cx="2194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검사수치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02920" y="2871215"/>
            <a:ext cx="2194500" cy="457200"/>
          </a:xfrm>
          <a:prstGeom prst="rect">
            <a:avLst/>
          </a:prstGeom>
          <a:solidFill>
            <a:srgbClr val="CDE7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 txBox="1"/>
          <p:nvPr/>
        </p:nvSpPr>
        <p:spPr>
          <a:xfrm>
            <a:off x="502920" y="2983474"/>
            <a:ext cx="2194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투약 이력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 txBox="1"/>
          <p:nvPr/>
        </p:nvSpPr>
        <p:spPr>
          <a:xfrm>
            <a:off x="2697480" y="1737360"/>
            <a:ext cx="548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C9D0D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3246120" y="1737360"/>
            <a:ext cx="2834700" cy="1591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 txBox="1"/>
          <p:nvPr/>
        </p:nvSpPr>
        <p:spPr>
          <a:xfrm>
            <a:off x="3383280" y="2145166"/>
            <a:ext cx="25602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E-Sight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동물 기준으로 결합하는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구독형 판독 보조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6080760" y="1737360"/>
            <a:ext cx="548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C9D0D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6629400" y="1737360"/>
            <a:ext cx="5074800" cy="749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6812280" y="2002699"/>
            <a:ext cx="11886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수의사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 txBox="1"/>
          <p:nvPr/>
        </p:nvSpPr>
        <p:spPr>
          <a:xfrm>
            <a:off x="7955279" y="2002699"/>
            <a:ext cx="3657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83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판독 초안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629400" y="2578608"/>
            <a:ext cx="5074800" cy="749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6812280" y="2823537"/>
            <a:ext cx="11886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보호자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7955279" y="2823537"/>
            <a:ext cx="3657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28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이해하기 쉬운 설명문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502920" y="3547872"/>
            <a:ext cx="7315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지표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7" name="Google Shape;167;p10"/>
          <p:cNvGraphicFramePr/>
          <p:nvPr/>
        </p:nvGraphicFramePr>
        <p:xfrm>
          <a:off x="502920" y="388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{CAA4FD32-8356-4CA7-A824-87DD62895576}</a:tableStyleId>
              </a:tblPr>
              <a:tblGrid>
                <a:gridCol w="4572000"/>
                <a:gridCol w="1645925"/>
                <a:gridCol w="2926075"/>
                <a:gridCol w="20574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 지표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가중치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현수준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애니멀 사업부 계약 갱신율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40%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81%  (2026 상반기)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95%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구독 매출 비중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30%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5%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20%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수의사 판독 소요 시간 단축률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30%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  (신규 지표)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B03A2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30%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합계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100%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68" name="Google Shape;168;p10"/>
          <p:cNvSpPr/>
          <p:nvPr/>
        </p:nvSpPr>
        <p:spPr>
          <a:xfrm>
            <a:off x="502920" y="5897880"/>
            <a:ext cx="11201400" cy="5670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777240" y="6071371"/>
            <a:ext cx="106527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판독 1건을 파는 서비스에서, 병원이 매일 쓰는 서비스로 — 갱신율과 구독 매출을 함께 끌어올린다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83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 txBox="1"/>
          <p:nvPr/>
        </p:nvSpPr>
        <p:spPr>
          <a:xfrm>
            <a:off x="1005840" y="2286000"/>
            <a:ext cx="201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600"/>
              <a:buFont typeface="Malgun Gothic"/>
              <a:buNone/>
            </a:pPr>
            <a:r>
              <a:rPr b="1" i="0" lang="en-US" sz="76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7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3017520" y="260604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algun Gothic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팀 구성 및 역할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3063240" y="3429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0"/>
              </a:buClr>
              <a:buSzPts val="1300"/>
              <a:buFont typeface="Malgun Gothic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713232" y="333429"/>
            <a:ext cx="9144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Calibri"/>
                <a:ea typeface="Calibri"/>
                <a:cs typeface="Calibri"/>
                <a:sym typeface="Calibri"/>
              </a:rPr>
              <a:t>02 프로젝트 팀 구성 및 역할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502920" y="617955"/>
            <a:ext cx="10241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F2933"/>
                </a:solidFill>
                <a:latin typeface="Cambria"/>
                <a:ea typeface="Cambria"/>
                <a:cs typeface="Cambria"/>
                <a:sym typeface="Cambria"/>
              </a:rPr>
              <a:t>프로젝트 구성  역할 분담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502920" y="1060704"/>
            <a:ext cx="10698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Calibri"/>
                <a:ea typeface="Calibri"/>
                <a:cs typeface="Calibri"/>
                <a:sym typeface="Calibri"/>
              </a:rPr>
              <a:t>5팀 E-Sight  ·  팀장 김지영  ·  팀원 전은지 · 신혜원 · 엄태은 · 이지희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12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7" name="Google Shape;187;p1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9D0D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502920" y="2514600"/>
            <a:ext cx="2130552" cy="28346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502920" y="2514600"/>
            <a:ext cx="2130552" cy="64008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667512" y="2697480"/>
            <a:ext cx="1801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3"/>
                </a:solidFill>
                <a:latin typeface="Cambria"/>
                <a:ea typeface="Cambria"/>
                <a:cs typeface="Cambria"/>
                <a:sym typeface="Cambria"/>
              </a:rPr>
              <a:t>김지영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667512" y="3017520"/>
            <a:ext cx="1801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B5F5E"/>
                </a:solidFill>
                <a:latin typeface="Calibri"/>
                <a:ea typeface="Calibri"/>
                <a:cs typeface="Calibri"/>
                <a:sym typeface="Calibri"/>
              </a:rPr>
              <a:t>팀장 · PM / 데이터 결합 구조 시연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12"/>
          <p:cNvCxnSpPr/>
          <p:nvPr/>
        </p:nvCxnSpPr>
        <p:spPr>
          <a:xfrm>
            <a:off x="667512" y="3438144"/>
            <a:ext cx="1801368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3" name="Google Shape;193;p12"/>
          <p:cNvSpPr txBox="1"/>
          <p:nvPr/>
        </p:nvSpPr>
        <p:spPr>
          <a:xfrm>
            <a:off x="667512" y="3547872"/>
            <a:ext cx="18015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과제 정의부터 발표까지 일정과 산출물을 총괄하고 검수한다. 실데이터에 없는 혈액검사·처방 데이터를 가상으로 만들어, 한 마리의 개체가 영상·혈액·처방으로 이어지는 결합 구조와 코드 표준화 과정을 검증한다.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2761488" y="2514600"/>
            <a:ext cx="2130552" cy="28346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2761488" y="2514600"/>
            <a:ext cx="2130552" cy="64008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2926080" y="2697480"/>
            <a:ext cx="1801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3"/>
                </a:solidFill>
                <a:latin typeface="Cambria"/>
                <a:ea typeface="Cambria"/>
                <a:cs typeface="Cambria"/>
                <a:sym typeface="Cambria"/>
              </a:rPr>
              <a:t>전은지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2926080" y="3017520"/>
            <a:ext cx="1801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B5F5E"/>
                </a:solidFill>
                <a:latin typeface="Calibri"/>
                <a:ea typeface="Calibri"/>
                <a:cs typeface="Calibri"/>
                <a:sym typeface="Calibri"/>
              </a:rPr>
              <a:t>특성 요인도 · 변수 정의서 · 분석 계획서 설계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12"/>
          <p:cNvCxnSpPr/>
          <p:nvPr/>
        </p:nvCxnSpPr>
        <p:spPr>
          <a:xfrm>
            <a:off x="2926080" y="3438144"/>
            <a:ext cx="1801368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9" name="Google Shape;199;p12"/>
          <p:cNvSpPr txBox="1"/>
          <p:nvPr/>
        </p:nvSpPr>
        <p:spPr>
          <a:xfrm>
            <a:off x="2926080" y="3547872"/>
            <a:ext cx="18015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서비스에 영향을 주는 요인을 11개 영역, 528개 인자로 정리하고, 중요도 × 수집가능성(1·3·9점)으로 즉시 착수 104개를 골라낸다. 실데이터와 대조해 분석 변수를 19개로 좁히고, 4단계 분석 계획으로 연결한다.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5020056" y="2514600"/>
            <a:ext cx="2130552" cy="28346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5020056" y="2514600"/>
            <a:ext cx="2130552" cy="64008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5184648" y="2697480"/>
            <a:ext cx="1801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3"/>
                </a:solidFill>
                <a:latin typeface="Cambria"/>
                <a:ea typeface="Cambria"/>
                <a:cs typeface="Cambria"/>
                <a:sym typeface="Cambria"/>
              </a:rPr>
              <a:t>신혜원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5184648" y="3017520"/>
            <a:ext cx="1801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B5F5E"/>
                </a:solidFill>
                <a:latin typeface="Calibri"/>
                <a:ea typeface="Calibri"/>
                <a:cs typeface="Calibri"/>
                <a:sym typeface="Calibri"/>
              </a:rPr>
              <a:t>시장 규모와 보호자 관점 · 규제 조사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12"/>
          <p:cNvCxnSpPr/>
          <p:nvPr/>
        </p:nvCxnSpPr>
        <p:spPr>
          <a:xfrm>
            <a:off x="5184648" y="3438144"/>
            <a:ext cx="1801368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5" name="Google Shape;205;p12"/>
          <p:cNvSpPr txBox="1"/>
          <p:nvPr/>
        </p:nvSpPr>
        <p:spPr>
          <a:xfrm>
            <a:off x="5184648" y="3547872"/>
            <a:ext cx="1801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헬스케어 AI·반려동물 시장 규모와 전국 동물병원 분포를 조사하고, 보호자의 진료비·설명 불만을 정리해 서비스의 필요성을 뒷받침한다. 수의사법(진단 주체·사전설명 의무)을 검토해, AI가 단독으로 진단하지 않도록 수의사 승인 구조의 근거를 마련한다.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7278624" y="2514600"/>
            <a:ext cx="2130552" cy="28346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7278624" y="2514600"/>
            <a:ext cx="2130552" cy="64008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7443216" y="2697480"/>
            <a:ext cx="1801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3"/>
                </a:solidFill>
                <a:latin typeface="Cambria"/>
                <a:ea typeface="Cambria"/>
                <a:cs typeface="Cambria"/>
                <a:sym typeface="Cambria"/>
              </a:rPr>
              <a:t>엄태은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7443216" y="3017520"/>
            <a:ext cx="1801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B5F5E"/>
                </a:solidFill>
                <a:latin typeface="Calibri"/>
                <a:ea typeface="Calibri"/>
                <a:cs typeface="Calibri"/>
                <a:sym typeface="Calibri"/>
              </a:rPr>
              <a:t>데이터 정제와 통계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12"/>
          <p:cNvCxnSpPr/>
          <p:nvPr/>
        </p:nvCxnSpPr>
        <p:spPr>
          <a:xfrm>
            <a:off x="7443216" y="3438144"/>
            <a:ext cx="1801368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1" name="Google Shape;211;p12"/>
          <p:cNvSpPr txBox="1"/>
          <p:nvPr/>
        </p:nvSpPr>
        <p:spPr>
          <a:xfrm>
            <a:off x="7443216" y="3547872"/>
            <a:ext cx="18015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AI Hub 근골격계 X-ray 라벨 16,618장을 정제하고, 나이·성별·중성화 등 분석 변수를 새로 만든다. 카이제곱 검정과 크래머 V로 이상소견과 관련 있는 요인을 찾고, 병원 간 판정 편차를 질환군·축종 구성을 감안해 비교한다.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9537192" y="2514600"/>
            <a:ext cx="2130552" cy="28346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9537192" y="2514600"/>
            <a:ext cx="2130552" cy="64008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9701784" y="2697480"/>
            <a:ext cx="1801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933"/>
                </a:solidFill>
                <a:latin typeface="Cambria"/>
                <a:ea typeface="Cambria"/>
                <a:cs typeface="Cambria"/>
                <a:sym typeface="Cambria"/>
              </a:rPr>
              <a:t>이지희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9701784" y="3017520"/>
            <a:ext cx="180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12"/>
          <p:cNvCxnSpPr/>
          <p:nvPr/>
        </p:nvCxnSpPr>
        <p:spPr>
          <a:xfrm>
            <a:off x="9701784" y="3438144"/>
            <a:ext cx="1801368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7" name="Google Shape;217;p12"/>
          <p:cNvSpPr txBox="1"/>
          <p:nvPr/>
        </p:nvSpPr>
        <p:spPr>
          <a:xfrm>
            <a:off x="9701784" y="3547872"/>
            <a:ext cx="180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83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/>
        </p:nvSpPr>
        <p:spPr>
          <a:xfrm>
            <a:off x="1005840" y="2286000"/>
            <a:ext cx="201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600"/>
              <a:buFont typeface="Malgun Gothic"/>
              <a:buNone/>
            </a:pPr>
            <a:r>
              <a:rPr b="1" i="0" lang="en-US" sz="76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7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 txBox="1"/>
          <p:nvPr/>
        </p:nvSpPr>
        <p:spPr>
          <a:xfrm>
            <a:off x="3017520" y="260604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algun Gothic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절차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/>
          <p:nvPr/>
        </p:nvSpPr>
        <p:spPr>
          <a:xfrm>
            <a:off x="158374" y="3270626"/>
            <a:ext cx="1836600" cy="633300"/>
          </a:xfrm>
          <a:prstGeom prst="homePlate">
            <a:avLst>
              <a:gd fmla="val 50000" name="adj"/>
            </a:avLst>
          </a:prstGeom>
          <a:solidFill>
            <a:srgbClr val="DCDCDC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9721718" y="3270626"/>
            <a:ext cx="2232600" cy="633300"/>
          </a:xfrm>
          <a:prstGeom prst="chevron">
            <a:avLst>
              <a:gd fmla="val 50000" name="adj"/>
            </a:avLst>
          </a:prstGeom>
          <a:solidFill>
            <a:srgbClr val="DCDCDC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14"/>
          <p:cNvCxnSpPr/>
          <p:nvPr/>
        </p:nvCxnSpPr>
        <p:spPr>
          <a:xfrm>
            <a:off x="1979127" y="3587374"/>
            <a:ext cx="7797900" cy="0"/>
          </a:xfrm>
          <a:prstGeom prst="straightConnector1">
            <a:avLst/>
          </a:prstGeom>
          <a:noFill/>
          <a:ln cap="flat" cmpd="sng" w="205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14"/>
          <p:cNvCxnSpPr/>
          <p:nvPr/>
        </p:nvCxnSpPr>
        <p:spPr>
          <a:xfrm>
            <a:off x="2097908" y="1291499"/>
            <a:ext cx="1108200" cy="2295900"/>
          </a:xfrm>
          <a:prstGeom prst="straightConnector1">
            <a:avLst/>
          </a:prstGeom>
          <a:noFill/>
          <a:ln cap="flat" cmpd="sng" w="14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4"/>
          <p:cNvCxnSpPr/>
          <p:nvPr/>
        </p:nvCxnSpPr>
        <p:spPr>
          <a:xfrm>
            <a:off x="3412084" y="1291499"/>
            <a:ext cx="1108200" cy="2295900"/>
          </a:xfrm>
          <a:prstGeom prst="straightConnector1">
            <a:avLst/>
          </a:prstGeom>
          <a:noFill/>
          <a:ln cap="flat" cmpd="sng" w="14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14"/>
          <p:cNvCxnSpPr/>
          <p:nvPr/>
        </p:nvCxnSpPr>
        <p:spPr>
          <a:xfrm>
            <a:off x="4726259" y="1291499"/>
            <a:ext cx="1108200" cy="2295900"/>
          </a:xfrm>
          <a:prstGeom prst="straightConnector1">
            <a:avLst/>
          </a:prstGeom>
          <a:noFill/>
          <a:ln cap="flat" cmpd="sng" w="14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14"/>
          <p:cNvCxnSpPr/>
          <p:nvPr/>
        </p:nvCxnSpPr>
        <p:spPr>
          <a:xfrm>
            <a:off x="6040435" y="1291499"/>
            <a:ext cx="1108200" cy="2295900"/>
          </a:xfrm>
          <a:prstGeom prst="straightConnector1">
            <a:avLst/>
          </a:prstGeom>
          <a:noFill/>
          <a:ln cap="flat" cmpd="sng" w="14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14"/>
          <p:cNvCxnSpPr/>
          <p:nvPr/>
        </p:nvCxnSpPr>
        <p:spPr>
          <a:xfrm>
            <a:off x="7354611" y="1291499"/>
            <a:ext cx="1108200" cy="2295900"/>
          </a:xfrm>
          <a:prstGeom prst="straightConnector1">
            <a:avLst/>
          </a:prstGeom>
          <a:noFill/>
          <a:ln cap="flat" cmpd="sng" w="14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14"/>
          <p:cNvCxnSpPr/>
          <p:nvPr/>
        </p:nvCxnSpPr>
        <p:spPr>
          <a:xfrm>
            <a:off x="8668786" y="1291499"/>
            <a:ext cx="1108200" cy="2295900"/>
          </a:xfrm>
          <a:prstGeom prst="straightConnector1">
            <a:avLst/>
          </a:prstGeom>
          <a:noFill/>
          <a:ln cap="flat" cmpd="sng" w="14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14"/>
          <p:cNvCxnSpPr/>
          <p:nvPr/>
        </p:nvCxnSpPr>
        <p:spPr>
          <a:xfrm flipH="1" rot="10800000">
            <a:off x="2754996" y="3587350"/>
            <a:ext cx="1108200" cy="2295900"/>
          </a:xfrm>
          <a:prstGeom prst="straightConnector1">
            <a:avLst/>
          </a:prstGeom>
          <a:noFill/>
          <a:ln cap="flat" cmpd="sng" w="14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14"/>
          <p:cNvCxnSpPr/>
          <p:nvPr/>
        </p:nvCxnSpPr>
        <p:spPr>
          <a:xfrm flipH="1" rot="10800000">
            <a:off x="4069171" y="3587350"/>
            <a:ext cx="1108200" cy="2295900"/>
          </a:xfrm>
          <a:prstGeom prst="straightConnector1">
            <a:avLst/>
          </a:prstGeom>
          <a:noFill/>
          <a:ln cap="flat" cmpd="sng" w="14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14"/>
          <p:cNvCxnSpPr/>
          <p:nvPr/>
        </p:nvCxnSpPr>
        <p:spPr>
          <a:xfrm flipH="1" rot="10800000">
            <a:off x="5383347" y="3587350"/>
            <a:ext cx="1108200" cy="2295900"/>
          </a:xfrm>
          <a:prstGeom prst="straightConnector1">
            <a:avLst/>
          </a:prstGeom>
          <a:noFill/>
          <a:ln cap="flat" cmpd="sng" w="14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14"/>
          <p:cNvCxnSpPr/>
          <p:nvPr/>
        </p:nvCxnSpPr>
        <p:spPr>
          <a:xfrm flipH="1" rot="10800000">
            <a:off x="6697523" y="3587350"/>
            <a:ext cx="1108200" cy="2295900"/>
          </a:xfrm>
          <a:prstGeom prst="straightConnector1">
            <a:avLst/>
          </a:prstGeom>
          <a:noFill/>
          <a:ln cap="flat" cmpd="sng" w="14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14"/>
          <p:cNvCxnSpPr/>
          <p:nvPr/>
        </p:nvCxnSpPr>
        <p:spPr>
          <a:xfrm flipH="1" rot="10800000">
            <a:off x="8011698" y="3587350"/>
            <a:ext cx="1108200" cy="2295900"/>
          </a:xfrm>
          <a:prstGeom prst="straightConnector1">
            <a:avLst/>
          </a:prstGeom>
          <a:noFill/>
          <a:ln cap="flat" cmpd="sng" w="142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14"/>
          <p:cNvSpPr txBox="1"/>
          <p:nvPr/>
        </p:nvSpPr>
        <p:spPr>
          <a:xfrm>
            <a:off x="316657" y="349849"/>
            <a:ext cx="15375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60"/>
              <a:buFont typeface="Malgun Gothic"/>
              <a:buNone/>
            </a:pPr>
            <a:r>
              <a:rPr b="0" i="0" lang="en-US" sz="1060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 특성요인도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316657" y="571043"/>
            <a:ext cx="66054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47"/>
              <a:buFont typeface="Malgun Gothic"/>
              <a:buNone/>
            </a:pPr>
            <a:r>
              <a:rPr b="0" i="0" lang="en-US" sz="1247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특성 요인도 작성_ 총괄 데이터 맵 (①~⑪ 전개도)</a:t>
            </a:r>
            <a:endParaRPr b="0" i="0" sz="12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11575481" y="6303508"/>
            <a:ext cx="2997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72"/>
              <a:buFont typeface="Malgun Gothic"/>
              <a:buNone/>
            </a:pPr>
            <a:r>
              <a:rPr b="0" i="0" lang="en-US" sz="873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132679" y="3374410"/>
            <a:ext cx="18879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2"/>
              <a:buFont typeface="Malgun Gothic"/>
              <a:buNone/>
            </a:pPr>
            <a:r>
              <a:rPr b="1" i="0" lang="en-US" sz="873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멀티모달 수의 판독 AI</a:t>
            </a:r>
            <a:endParaRPr b="0" i="0" sz="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266456" y="3572286"/>
            <a:ext cx="1620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2"/>
              <a:buFont typeface="Malgun Gothic"/>
              <a:buNone/>
            </a:pPr>
            <a:r>
              <a:rPr b="1" i="0" lang="en-US" sz="873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데이터 플랫폼</a:t>
            </a:r>
            <a:endParaRPr b="0" i="0" sz="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 txBox="1"/>
          <p:nvPr/>
        </p:nvSpPr>
        <p:spPr>
          <a:xfrm>
            <a:off x="9968423" y="3374410"/>
            <a:ext cx="1818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2"/>
              <a:buFont typeface="Malgun Gothic"/>
              <a:buNone/>
            </a:pPr>
            <a:r>
              <a:rPr b="1" i="0" lang="en-US" sz="873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판독 초안 즉시 참조 ·</a:t>
            </a:r>
            <a:endParaRPr b="0" i="0" sz="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9657527" y="3572286"/>
            <a:ext cx="24399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2"/>
              <a:buFont typeface="Malgun Gothic"/>
              <a:buNone/>
            </a:pPr>
            <a:r>
              <a:rPr b="1" i="0" lang="en-US" sz="873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보호자 맞춤 설명 · 구독 전환</a:t>
            </a:r>
            <a:endParaRPr b="0" i="0" sz="8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 txBox="1"/>
          <p:nvPr/>
        </p:nvSpPr>
        <p:spPr>
          <a:xfrm>
            <a:off x="1538295" y="1036381"/>
            <a:ext cx="11193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42"/>
              <a:buFont typeface="Malgun Gothic"/>
              <a:buNone/>
            </a:pPr>
            <a:r>
              <a:rPr b="1" i="0" lang="en-US" sz="84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영상 데이터</a:t>
            </a:r>
            <a:endParaRPr b="0" i="0" sz="8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1912650" y="954999"/>
            <a:ext cx="3705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23"/>
              <a:buFont typeface="Malgun Gothic"/>
              <a:buNone/>
            </a:pPr>
            <a:r>
              <a:rPr b="0" i="0" lang="en-US" sz="623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p.5</a:t>
            </a:r>
            <a:endParaRPr b="0" i="0" sz="6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 txBox="1"/>
          <p:nvPr/>
        </p:nvSpPr>
        <p:spPr>
          <a:xfrm>
            <a:off x="2055754" y="3092135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연동 · 수집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1762323" y="2846710"/>
            <a:ext cx="1058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시계열 · 비교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1547622" y="2601285"/>
            <a:ext cx="1154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 계열 확장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1831543" y="2355860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판독 소견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1713037" y="2110435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 품질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1463314" y="1865102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장비 · 환경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1476116" y="1619677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촬영 조건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1357610" y="1374252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 원본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 txBox="1"/>
          <p:nvPr/>
        </p:nvSpPr>
        <p:spPr>
          <a:xfrm>
            <a:off x="2693548" y="1036381"/>
            <a:ext cx="14373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42"/>
              <a:buFont typeface="Malgun Gothic"/>
              <a:buNone/>
            </a:pPr>
            <a:r>
              <a:rPr b="1" i="0" lang="en-US" sz="84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혈액 · 진단검사</a:t>
            </a:r>
            <a:endParaRPr b="0" i="0" sz="8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3226826" y="954999"/>
            <a:ext cx="3705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23"/>
              <a:buFont typeface="Malgun Gothic"/>
              <a:buNone/>
            </a:pPr>
            <a:r>
              <a:rPr b="0" i="0" lang="en-US" sz="623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p.6</a:t>
            </a:r>
            <a:endParaRPr b="0" i="0" sz="6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3369930" y="3092135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품질 · 연동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3382640" y="2846710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기준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 txBox="1"/>
          <p:nvPr/>
        </p:nvSpPr>
        <p:spPr>
          <a:xfrm>
            <a:off x="3264134" y="2601285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 메타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2795778" y="2355860"/>
            <a:ext cx="1102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기타 체액검사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 txBox="1"/>
          <p:nvPr/>
        </p:nvSpPr>
        <p:spPr>
          <a:xfrm>
            <a:off x="2721072" y="2110435"/>
            <a:ext cx="1058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전해질 · 가스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2786268" y="1865102"/>
            <a:ext cx="87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바이오마커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2842778" y="1619677"/>
            <a:ext cx="699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혈청화학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2272833" y="1374252"/>
            <a:ext cx="1151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혈구검사(CBC)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4189415" y="1036381"/>
            <a:ext cx="10737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42"/>
              <a:buFont typeface="Malgun Gothic"/>
              <a:buNone/>
            </a:pPr>
            <a:r>
              <a:rPr b="1" i="0" lang="en-US" sz="84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처방 · 투약</a:t>
            </a:r>
            <a:endParaRPr b="0" i="0" sz="8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4541002" y="954999"/>
            <a:ext cx="3705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23"/>
              <a:buFont typeface="Malgun Gothic"/>
              <a:buNone/>
            </a:pPr>
            <a:r>
              <a:rPr b="0" i="0" lang="en-US" sz="623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p.7</a:t>
            </a:r>
            <a:endParaRPr b="0" i="0" sz="6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 txBox="1"/>
          <p:nvPr/>
        </p:nvSpPr>
        <p:spPr>
          <a:xfrm>
            <a:off x="4684105" y="3092135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연동 · 품질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 txBox="1"/>
          <p:nvPr/>
        </p:nvSpPr>
        <p:spPr>
          <a:xfrm>
            <a:off x="4565599" y="2846710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수납 · 비용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 txBox="1"/>
          <p:nvPr/>
        </p:nvSpPr>
        <p:spPr>
          <a:xfrm>
            <a:off x="4447093" y="2601285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처치 · 시술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4459895" y="2355860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투약 실행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 txBox="1"/>
          <p:nvPr/>
        </p:nvSpPr>
        <p:spPr>
          <a:xfrm>
            <a:off x="4166464" y="2110435"/>
            <a:ext cx="927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투약 안전성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4091666" y="1865102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용법 · 용량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 txBox="1"/>
          <p:nvPr/>
        </p:nvSpPr>
        <p:spPr>
          <a:xfrm>
            <a:off x="4104467" y="1619677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약물 정보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3985961" y="1374252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처방 기본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 txBox="1"/>
          <p:nvPr/>
        </p:nvSpPr>
        <p:spPr>
          <a:xfrm>
            <a:off x="5503499" y="1036381"/>
            <a:ext cx="10737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42"/>
              <a:buFont typeface="Malgun Gothic"/>
              <a:buNone/>
            </a:pPr>
            <a:r>
              <a:rPr b="1" i="0" lang="en-US" sz="84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응급 · 입원</a:t>
            </a:r>
            <a:endParaRPr b="0" i="0" sz="8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5855178" y="954999"/>
            <a:ext cx="3705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23"/>
              <a:buFont typeface="Malgun Gothic"/>
              <a:buNone/>
            </a:pPr>
            <a:r>
              <a:rPr b="0" i="0" lang="en-US" sz="623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p.8</a:t>
            </a:r>
            <a:endParaRPr b="0" i="0" sz="6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 txBox="1"/>
          <p:nvPr/>
        </p:nvSpPr>
        <p:spPr>
          <a:xfrm>
            <a:off x="6129498" y="3092135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제약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 txBox="1"/>
          <p:nvPr/>
        </p:nvSpPr>
        <p:spPr>
          <a:xfrm>
            <a:off x="5879775" y="2846710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· 예후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5542544" y="2601285"/>
            <a:ext cx="1102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모니터링 장비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5642854" y="2355860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입원 · 경과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5655564" y="2110435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응급 처치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 txBox="1"/>
          <p:nvPr/>
        </p:nvSpPr>
        <p:spPr>
          <a:xfrm>
            <a:off x="5589544" y="1865102"/>
            <a:ext cx="699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활력징후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5471130" y="1619677"/>
            <a:ext cx="699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트리아지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 txBox="1"/>
          <p:nvPr/>
        </p:nvSpPr>
        <p:spPr>
          <a:xfrm>
            <a:off x="5168920" y="1374252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내원 · 접수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 txBox="1"/>
          <p:nvPr/>
        </p:nvSpPr>
        <p:spPr>
          <a:xfrm>
            <a:off x="6427043" y="1036381"/>
            <a:ext cx="18549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42"/>
              <a:buFont typeface="Malgun Gothic"/>
              <a:buNone/>
            </a:pPr>
            <a:r>
              <a:rPr b="1" i="0" lang="en-US" sz="84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개체 · 보호자 마스터</a:t>
            </a:r>
            <a:endParaRPr b="0" i="0" sz="8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/>
          <p:nvPr/>
        </p:nvSpPr>
        <p:spPr>
          <a:xfrm>
            <a:off x="7169353" y="954999"/>
            <a:ext cx="3705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23"/>
              <a:buFont typeface="Malgun Gothic"/>
              <a:buNone/>
            </a:pPr>
            <a:r>
              <a:rPr b="0" i="0" lang="en-US" sz="623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p.9</a:t>
            </a:r>
            <a:endParaRPr b="0" i="0" sz="6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 txBox="1"/>
          <p:nvPr/>
        </p:nvSpPr>
        <p:spPr>
          <a:xfrm>
            <a:off x="7597567" y="3092135"/>
            <a:ext cx="598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매핑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 txBox="1"/>
          <p:nvPr/>
        </p:nvSpPr>
        <p:spPr>
          <a:xfrm>
            <a:off x="7193951" y="2846710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동의 · 권리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 txBox="1"/>
          <p:nvPr/>
        </p:nvSpPr>
        <p:spPr>
          <a:xfrm>
            <a:off x="7031736" y="2601285"/>
            <a:ext cx="927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보호자 특성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 txBox="1"/>
          <p:nvPr/>
        </p:nvSpPr>
        <p:spPr>
          <a:xfrm>
            <a:off x="6913230" y="2355860"/>
            <a:ext cx="927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보호자 식별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 txBox="1"/>
          <p:nvPr/>
        </p:nvSpPr>
        <p:spPr>
          <a:xfrm>
            <a:off x="6969740" y="2110435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생활 정보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6851233" y="1865102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병력 배경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 txBox="1"/>
          <p:nvPr/>
        </p:nvSpPr>
        <p:spPr>
          <a:xfrm>
            <a:off x="6732727" y="1619677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개체 속성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 txBox="1"/>
          <p:nvPr/>
        </p:nvSpPr>
        <p:spPr>
          <a:xfrm>
            <a:off x="6614312" y="1374252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개체 식별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 txBox="1"/>
          <p:nvPr/>
        </p:nvSpPr>
        <p:spPr>
          <a:xfrm>
            <a:off x="7950159" y="1036381"/>
            <a:ext cx="14373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42"/>
              <a:buFont typeface="Malgun Gothic"/>
              <a:buNone/>
            </a:pPr>
            <a:r>
              <a:rPr b="1" i="0" lang="en-US" sz="84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⑥ 통합 · 거버넌스</a:t>
            </a:r>
            <a:endParaRPr b="0" i="0" sz="8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 txBox="1"/>
          <p:nvPr/>
        </p:nvSpPr>
        <p:spPr>
          <a:xfrm>
            <a:off x="8461309" y="954999"/>
            <a:ext cx="4149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23"/>
              <a:buFont typeface="Malgun Gothic"/>
              <a:buNone/>
            </a:pPr>
            <a:r>
              <a:rPr b="0" i="0" lang="en-US" sz="623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p.10</a:t>
            </a:r>
            <a:endParaRPr b="0" i="0" sz="6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>
            <a:off x="8626541" y="3092135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접근 · 조직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 txBox="1"/>
          <p:nvPr/>
        </p:nvSpPr>
        <p:spPr>
          <a:xfrm>
            <a:off x="8508126" y="2846710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· 운영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 txBox="1"/>
          <p:nvPr/>
        </p:nvSpPr>
        <p:spPr>
          <a:xfrm>
            <a:off x="8564545" y="2601285"/>
            <a:ext cx="708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법 · 제도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8096189" y="2355860"/>
            <a:ext cx="1058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비식별 · 보안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 txBox="1"/>
          <p:nvPr/>
        </p:nvSpPr>
        <p:spPr>
          <a:xfrm>
            <a:off x="8283915" y="2110435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품질 지표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>
            <a:off x="8165409" y="1865102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시점 정합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 txBox="1"/>
          <p:nvPr/>
        </p:nvSpPr>
        <p:spPr>
          <a:xfrm>
            <a:off x="7915686" y="1619677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 · 코드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 txBox="1"/>
          <p:nvPr/>
        </p:nvSpPr>
        <p:spPr>
          <a:xfrm>
            <a:off x="7797272" y="1374252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· 연계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 txBox="1"/>
          <p:nvPr/>
        </p:nvSpPr>
        <p:spPr>
          <a:xfrm>
            <a:off x="2184502" y="5913059"/>
            <a:ext cx="11409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42"/>
              <a:buFont typeface="Malgun Gothic"/>
              <a:buNone/>
            </a:pPr>
            <a:r>
              <a:rPr b="1" i="0" lang="en-US" sz="84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⑦ 멀티모달 AI</a:t>
            </a:r>
            <a:endParaRPr b="0" i="0" sz="8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 txBox="1"/>
          <p:nvPr/>
        </p:nvSpPr>
        <p:spPr>
          <a:xfrm>
            <a:off x="2547610" y="6069239"/>
            <a:ext cx="4149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23"/>
              <a:buFont typeface="Malgun Gothic"/>
              <a:buNone/>
            </a:pPr>
            <a:r>
              <a:rPr b="0" i="0" lang="en-US" sz="623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p.11</a:t>
            </a:r>
            <a:endParaRPr b="0" i="0" sz="6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 txBox="1"/>
          <p:nvPr/>
        </p:nvSpPr>
        <p:spPr>
          <a:xfrm>
            <a:off x="2494117" y="3804636"/>
            <a:ext cx="1102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데이터셋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2419411" y="4050060"/>
            <a:ext cx="1058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라벨링 · 정답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 txBox="1"/>
          <p:nvPr/>
        </p:nvSpPr>
        <p:spPr>
          <a:xfrm>
            <a:off x="2257196" y="4295485"/>
            <a:ext cx="1102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모달리티 결합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 txBox="1"/>
          <p:nvPr/>
        </p:nvSpPr>
        <p:spPr>
          <a:xfrm>
            <a:off x="2357415" y="4540910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· 추론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 txBox="1"/>
          <p:nvPr/>
        </p:nvSpPr>
        <p:spPr>
          <a:xfrm>
            <a:off x="2370125" y="4786335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 평가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2076694" y="5031760"/>
            <a:ext cx="927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소견문 생성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1958188" y="5277185"/>
            <a:ext cx="927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 루프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 txBox="1"/>
          <p:nvPr/>
        </p:nvSpPr>
        <p:spPr>
          <a:xfrm>
            <a:off x="1708556" y="5522610"/>
            <a:ext cx="1058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· 리스크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3300618" y="5913059"/>
            <a:ext cx="15372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42"/>
              <a:buFont typeface="Malgun Gothic"/>
              <a:buNone/>
            </a:pPr>
            <a:r>
              <a:rPr b="1" i="0" lang="en-US" sz="84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⑧ 수의사 판독 초안</a:t>
            </a:r>
            <a:endParaRPr b="0" i="0" sz="8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3861786" y="6069239"/>
            <a:ext cx="4149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23"/>
              <a:buFont typeface="Malgun Gothic"/>
              <a:buNone/>
            </a:pPr>
            <a:r>
              <a:rPr b="0" i="0" lang="en-US" sz="623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p.12</a:t>
            </a:r>
            <a:endParaRPr b="0" i="0" sz="6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4158234" y="3804636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초안 구성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4039728" y="4050060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제시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3790005" y="4295485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· 조작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3671590" y="4540910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검토 · 수정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3553084" y="4786335"/>
            <a:ext cx="88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 · 책임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3565794" y="5031760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 연계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3272363" y="5277185"/>
            <a:ext cx="927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사용성 지표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 txBox="1"/>
          <p:nvPr/>
        </p:nvSpPr>
        <p:spPr>
          <a:xfrm>
            <a:off x="3381360" y="5522610"/>
            <a:ext cx="699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안전장치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 txBox="1"/>
          <p:nvPr/>
        </p:nvSpPr>
        <p:spPr>
          <a:xfrm>
            <a:off x="4732934" y="5913059"/>
            <a:ext cx="130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42"/>
              <a:buFont typeface="Malgun Gothic"/>
              <a:buNone/>
            </a:pPr>
            <a:r>
              <a:rPr b="1" i="0" lang="en-US" sz="84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⑨ 보호자 설명문</a:t>
            </a:r>
            <a:endParaRPr b="0" i="0" sz="8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 txBox="1"/>
          <p:nvPr/>
        </p:nvSpPr>
        <p:spPr>
          <a:xfrm>
            <a:off x="5175961" y="6069239"/>
            <a:ext cx="4149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23"/>
              <a:buFont typeface="Malgun Gothic"/>
              <a:buNone/>
            </a:pPr>
            <a:r>
              <a:rPr b="0" i="0" lang="en-US" sz="623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p.13</a:t>
            </a:r>
            <a:endParaRPr b="0" i="0" sz="6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 txBox="1"/>
          <p:nvPr/>
        </p:nvSpPr>
        <p:spPr>
          <a:xfrm>
            <a:off x="5297394" y="3804636"/>
            <a:ext cx="927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설명문 생성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5178979" y="4050060"/>
            <a:ext cx="927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구성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 txBox="1"/>
          <p:nvPr/>
        </p:nvSpPr>
        <p:spPr>
          <a:xfrm>
            <a:off x="5235397" y="4295485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맞춤 변수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5116982" y="4540910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전달 채널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4823551" y="4786335"/>
            <a:ext cx="927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반응 데이터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 txBox="1"/>
          <p:nvPr/>
        </p:nvSpPr>
        <p:spPr>
          <a:xfrm>
            <a:off x="4879970" y="5031760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행동 전환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4967569" y="5277185"/>
            <a:ext cx="546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수익화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4468033" y="5522610"/>
            <a:ext cx="927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선순환 지표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 txBox="1"/>
          <p:nvPr/>
        </p:nvSpPr>
        <p:spPr>
          <a:xfrm>
            <a:off x="5651906" y="5913059"/>
            <a:ext cx="20913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42"/>
              <a:buFont typeface="Malgun Gothic"/>
              <a:buNone/>
            </a:pPr>
            <a:r>
              <a:rPr b="1" i="0" lang="en-US" sz="84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⑩ 보호자 신뢰 · 시장 대응</a:t>
            </a:r>
            <a:endParaRPr b="0" i="0" sz="8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 txBox="1"/>
          <p:nvPr/>
        </p:nvSpPr>
        <p:spPr>
          <a:xfrm>
            <a:off x="6490137" y="6069239"/>
            <a:ext cx="4149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23"/>
              <a:buFont typeface="Malgun Gothic"/>
              <a:buNone/>
            </a:pPr>
            <a:r>
              <a:rPr b="0" i="0" lang="en-US" sz="623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p.14</a:t>
            </a:r>
            <a:endParaRPr b="0" i="0" sz="6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 txBox="1"/>
          <p:nvPr/>
        </p:nvSpPr>
        <p:spPr>
          <a:xfrm>
            <a:off x="6681612" y="3804636"/>
            <a:ext cx="85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불신(비용)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 txBox="1"/>
          <p:nvPr/>
        </p:nvSpPr>
        <p:spPr>
          <a:xfrm>
            <a:off x="6563106" y="4050060"/>
            <a:ext cx="85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불신(정보)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 txBox="1"/>
          <p:nvPr/>
        </p:nvSpPr>
        <p:spPr>
          <a:xfrm>
            <a:off x="5972221" y="4295485"/>
            <a:ext cx="132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신뢰의 실제 구조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 txBox="1"/>
          <p:nvPr/>
        </p:nvSpPr>
        <p:spPr>
          <a:xfrm>
            <a:off x="6256142" y="4540910"/>
            <a:ext cx="927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악순환 루프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 txBox="1"/>
          <p:nvPr/>
        </p:nvSpPr>
        <p:spPr>
          <a:xfrm>
            <a:off x="5787786" y="4786335"/>
            <a:ext cx="1277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업무시간 재배분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 txBox="1"/>
          <p:nvPr/>
        </p:nvSpPr>
        <p:spPr>
          <a:xfrm>
            <a:off x="5616793" y="5031760"/>
            <a:ext cx="132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소통 투명화 효과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 txBox="1"/>
          <p:nvPr/>
        </p:nvSpPr>
        <p:spPr>
          <a:xfrm>
            <a:off x="5900715" y="5277185"/>
            <a:ext cx="927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서비스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 txBox="1"/>
          <p:nvPr/>
        </p:nvSpPr>
        <p:spPr>
          <a:xfrm>
            <a:off x="5957225" y="5522610"/>
            <a:ext cx="752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 흐름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 txBox="1"/>
          <p:nvPr/>
        </p:nvSpPr>
        <p:spPr>
          <a:xfrm>
            <a:off x="7175022" y="5913059"/>
            <a:ext cx="16734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42"/>
              <a:buFont typeface="Malgun Gothic"/>
              <a:buNone/>
            </a:pPr>
            <a:r>
              <a:rPr b="1" i="0" lang="en-US" sz="84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⑪ 법제 · 규제 리스크</a:t>
            </a:r>
            <a:endParaRPr b="0" i="0" sz="8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 txBox="1"/>
          <p:nvPr/>
        </p:nvSpPr>
        <p:spPr>
          <a:xfrm>
            <a:off x="7804313" y="6069239"/>
            <a:ext cx="4149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23"/>
              <a:buFont typeface="Malgun Gothic"/>
              <a:buNone/>
            </a:pPr>
            <a:r>
              <a:rPr b="0" i="0" lang="en-US" sz="623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p.15</a:t>
            </a:r>
            <a:endParaRPr b="0" i="0" sz="6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 txBox="1"/>
          <p:nvPr/>
        </p:nvSpPr>
        <p:spPr>
          <a:xfrm>
            <a:off x="7750820" y="3804636"/>
            <a:ext cx="1102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의료기기 허가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 txBox="1"/>
          <p:nvPr/>
        </p:nvSpPr>
        <p:spPr>
          <a:xfrm>
            <a:off x="7506310" y="4050060"/>
            <a:ext cx="1228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진료권(제10조)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 txBox="1"/>
          <p:nvPr/>
        </p:nvSpPr>
        <p:spPr>
          <a:xfrm>
            <a:off x="7513808" y="4295485"/>
            <a:ext cx="1102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사전설명 의무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 txBox="1"/>
          <p:nvPr/>
        </p:nvSpPr>
        <p:spPr>
          <a:xfrm>
            <a:off x="7395393" y="4540910"/>
            <a:ext cx="1102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정보공개 의무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 txBox="1"/>
          <p:nvPr/>
        </p:nvSpPr>
        <p:spPr>
          <a:xfrm>
            <a:off x="7276887" y="4786335"/>
            <a:ext cx="1102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표준코드 매핑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 txBox="1"/>
          <p:nvPr/>
        </p:nvSpPr>
        <p:spPr>
          <a:xfrm>
            <a:off x="6852239" y="5031760"/>
            <a:ext cx="1408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개인정보 · 비식별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 txBox="1"/>
          <p:nvPr/>
        </p:nvSpPr>
        <p:spPr>
          <a:xfrm>
            <a:off x="6864949" y="5277185"/>
            <a:ext cx="1277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진료기록 접근권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 txBox="1"/>
          <p:nvPr/>
        </p:nvSpPr>
        <p:spPr>
          <a:xfrm>
            <a:off x="6793718" y="5522610"/>
            <a:ext cx="1230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10"/>
              <a:buFont typeface="Malgun Gothic"/>
              <a:buNone/>
            </a:pPr>
            <a:r>
              <a:rPr b="1" i="0" lang="en-US" sz="81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 신뢰 · XAI</a:t>
            </a:r>
            <a:endParaRPr b="0" i="0" sz="8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"/>
          <p:cNvSpPr txBox="1"/>
          <p:nvPr/>
        </p:nvSpPr>
        <p:spPr>
          <a:xfrm>
            <a:off x="347472" y="201168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60"/>
              <a:buFont typeface="Malgun Gothic"/>
              <a:buNone/>
            </a:pPr>
            <a:r>
              <a:rPr b="0" i="0" lang="en-US" sz="1060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데이터 수집성 평가표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 txBox="1"/>
          <p:nvPr/>
        </p:nvSpPr>
        <p:spPr>
          <a:xfrm>
            <a:off x="347472" y="512064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1 · 3 · 9 척도 전수 평가 결과 — 어골도 ①~⑪ 인자 528개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 txBox="1"/>
          <p:nvPr/>
        </p:nvSpPr>
        <p:spPr>
          <a:xfrm>
            <a:off x="11155680" y="6446520"/>
            <a:ext cx="68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70"/>
              <a:buFont typeface="Malgun Gothic"/>
              <a:buNone/>
            </a:pPr>
            <a:r>
              <a:rPr b="0" i="0" lang="en-US" sz="870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9" name="Google Shape;369;p15"/>
          <p:cNvGraphicFramePr/>
          <p:nvPr/>
        </p:nvGraphicFramePr>
        <p:xfrm>
          <a:off x="347472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{ABD2EBAB-0EEE-494C-9633-103B940A540B}</a:tableStyleId>
              </a:tblPr>
              <a:tblGrid>
                <a:gridCol w="384050"/>
                <a:gridCol w="1755650"/>
                <a:gridCol w="868675"/>
                <a:gridCol w="621800"/>
                <a:gridCol w="640075"/>
                <a:gridCol w="640075"/>
                <a:gridCol w="621800"/>
                <a:gridCol w="640075"/>
                <a:gridCol w="640075"/>
              </a:tblGrid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분류</a:t>
                      </a:r>
                      <a:endParaRPr sz="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대분류</a:t>
                      </a:r>
                      <a:endParaRPr sz="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구분</a:t>
                      </a:r>
                      <a:endParaRPr sz="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인자 수</a:t>
                      </a:r>
                      <a:endParaRPr sz="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평균</a:t>
                      </a:r>
                      <a:endParaRPr sz="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중요도</a:t>
                      </a:r>
                      <a:endParaRPr sz="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평균</a:t>
                      </a:r>
                      <a:endParaRPr sz="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가능성</a:t>
                      </a:r>
                      <a:endParaRPr sz="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평균</a:t>
                      </a:r>
                      <a:endParaRPr sz="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총점</a:t>
                      </a:r>
                      <a:endParaRPr sz="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즉시</a:t>
                      </a:r>
                      <a:endParaRPr sz="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착수</a:t>
                      </a:r>
                      <a:endParaRPr sz="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선결</a:t>
                      </a:r>
                      <a:endParaRPr sz="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과제</a:t>
                      </a:r>
                      <a:endParaRPr sz="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83A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①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영상 데이터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66666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원천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4.75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5.12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60"/>
                        <a:buFont typeface="Malgun Gothic"/>
                        <a:buNone/>
                      </a:pPr>
                      <a:r>
                        <a:rPr b="1" lang="en-US" sz="860" u="none" cap="none" strike="noStrike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9.88</a:t>
                      </a:r>
                      <a:endParaRPr sz="86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2C2C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9B2C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②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혈액 · 진단검사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66666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원천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5.04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4.38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60"/>
                        <a:buFont typeface="Malgun Gothic"/>
                        <a:buNone/>
                      </a:pPr>
                      <a:r>
                        <a:rPr b="1" lang="en-US" sz="860" u="none" cap="none" strike="noStrike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9.42</a:t>
                      </a:r>
                      <a:endParaRPr sz="86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2C2C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9B2C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③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처방 · 투약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66666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원천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5.12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3.12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2C2C"/>
                        </a:buClr>
                        <a:buSzPts val="860"/>
                        <a:buFont typeface="Malgun Gothic"/>
                        <a:buNone/>
                      </a:pPr>
                      <a:r>
                        <a:rPr b="1" lang="en-US" sz="860" u="none" cap="none" strike="noStrike">
                          <a:solidFill>
                            <a:srgbClr val="9B2C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8.25</a:t>
                      </a:r>
                      <a:endParaRPr sz="86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2C2C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9B2C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④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응급 · 입원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66666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원천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1.79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2C2C"/>
                        </a:buClr>
                        <a:buSzPts val="860"/>
                        <a:buFont typeface="Malgun Gothic"/>
                        <a:buNone/>
                      </a:pPr>
                      <a:r>
                        <a:rPr b="1" lang="en-US" sz="860" u="none" cap="none" strike="noStrike">
                          <a:solidFill>
                            <a:srgbClr val="9B2C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6.79</a:t>
                      </a:r>
                      <a:endParaRPr sz="86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2C2C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9B2C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⑤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개체 · 보호자 마스터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66666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원천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6.38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60"/>
                        <a:buFont typeface="Malgun Gothic"/>
                        <a:buNone/>
                      </a:pPr>
                      <a:r>
                        <a:rPr b="1" lang="en-US" sz="860" u="none" cap="none" strike="noStrike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10.38</a:t>
                      </a:r>
                      <a:endParaRPr sz="86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2C2C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9B2C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⑥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통합 · 품질 · 거버넌스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66666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가공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4.83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60"/>
                        <a:buFont typeface="Malgun Gothic"/>
                        <a:buNone/>
                      </a:pPr>
                      <a:r>
                        <a:rPr b="1" lang="en-US" sz="860" u="none" cap="none" strike="noStrike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10.83</a:t>
                      </a:r>
                      <a:endParaRPr sz="86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2C2C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9B2C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⑦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멀티모달 AI 학습 · 판독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66666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생성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8.25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5.25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60"/>
                        <a:buFont typeface="Malgun Gothic"/>
                        <a:buNone/>
                      </a:pPr>
                      <a:r>
                        <a:rPr b="1" lang="en-US" sz="86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13.5</a:t>
                      </a:r>
                      <a:endParaRPr sz="86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2C2C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9B2C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⑧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수의사용 판독 초안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66666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생성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5.92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7.38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60"/>
                        <a:buFont typeface="Malgun Gothic"/>
                        <a:buNone/>
                      </a:pPr>
                      <a:r>
                        <a:rPr b="1" lang="en-US" sz="86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13.29</a:t>
                      </a:r>
                      <a:endParaRPr sz="86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2C2C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9B2C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⑨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보호자 설명문 · 수익화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66666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생성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4.79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4.25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60"/>
                        <a:buFont typeface="Malgun Gothic"/>
                        <a:buNone/>
                      </a:pPr>
                      <a:r>
                        <a:rPr b="1" lang="en-US" sz="860" u="none" cap="none" strike="noStrike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9.04</a:t>
                      </a:r>
                      <a:endParaRPr sz="86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2C2C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9B2C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⑩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보호자 신뢰 · 시장 대응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66666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외부 조사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6.71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5.62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60"/>
                        <a:buFont typeface="Malgun Gothic"/>
                        <a:buNone/>
                      </a:pPr>
                      <a:r>
                        <a:rPr b="1" lang="en-US" sz="86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12.33</a:t>
                      </a:r>
                      <a:endParaRPr sz="86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2C2C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9B2C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⑪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법제 · 규제 리스크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66666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외부 준거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6.92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5.17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60"/>
                        <a:buFont typeface="Malgun Gothic"/>
                        <a:buNone/>
                      </a:pPr>
                      <a:r>
                        <a:rPr b="1" lang="en-US" sz="86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12.08</a:t>
                      </a:r>
                      <a:endParaRPr sz="86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2C2C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9B2C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0"/>
                        <a:buFont typeface="Calibri"/>
                        <a:buNone/>
                      </a:pPr>
                      <a:r>
                        <a:t/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합계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0"/>
                        <a:buFont typeface="Calibri"/>
                        <a:buNone/>
                      </a:pPr>
                      <a:r>
                        <a:t/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528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5.9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4.63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60"/>
                        <a:buFont typeface="Malgun Gothic"/>
                        <a:buNone/>
                      </a:pPr>
                      <a:r>
                        <a:rPr b="1" lang="en-US" sz="860" u="none" cap="none" strike="noStrike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10.53</a:t>
                      </a:r>
                      <a:endParaRPr sz="86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F5E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0B5F5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104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2C2C"/>
                        </a:buClr>
                        <a:buSzPts val="820"/>
                        <a:buFont typeface="Malgun Gothic"/>
                        <a:buNone/>
                      </a:pPr>
                      <a:r>
                        <a:rPr b="1" lang="en-US" sz="820" u="none" cap="none" strike="noStrike">
                          <a:solidFill>
                            <a:srgbClr val="9B2C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</a:t>
                      </a:r>
                      <a:endParaRPr sz="82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370" name="Google Shape;370;p15"/>
          <p:cNvSpPr txBox="1"/>
          <p:nvPr/>
        </p:nvSpPr>
        <p:spPr>
          <a:xfrm>
            <a:off x="7635240" y="10515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 × 수집가능성 분포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 txBox="1"/>
          <p:nvPr/>
        </p:nvSpPr>
        <p:spPr>
          <a:xfrm>
            <a:off x="8183880" y="1353312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60"/>
              <a:buFont typeface="Malgun Gothic"/>
              <a:buNone/>
            </a:pPr>
            <a:r>
              <a:rPr b="0" i="0" lang="en-US" sz="76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가능성 1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 txBox="1"/>
          <p:nvPr/>
        </p:nvSpPr>
        <p:spPr>
          <a:xfrm>
            <a:off x="9372600" y="1353312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60"/>
              <a:buFont typeface="Malgun Gothic"/>
              <a:buNone/>
            </a:pPr>
            <a:r>
              <a:rPr b="0" i="0" lang="en-US" sz="76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가능성 3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 txBox="1"/>
          <p:nvPr/>
        </p:nvSpPr>
        <p:spPr>
          <a:xfrm>
            <a:off x="10561320" y="1353312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60"/>
              <a:buFont typeface="Malgun Gothic"/>
              <a:buNone/>
            </a:pPr>
            <a:r>
              <a:rPr b="0" i="0" lang="en-US" sz="76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가능성 9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 txBox="1"/>
          <p:nvPr/>
        </p:nvSpPr>
        <p:spPr>
          <a:xfrm>
            <a:off x="7616952" y="1572768"/>
            <a:ext cx="512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60"/>
              <a:buFont typeface="Malgun Gothic"/>
              <a:buNone/>
            </a:pPr>
            <a:r>
              <a:rPr b="0" i="0" lang="en-US" sz="76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60"/>
              <a:buFont typeface="Malgun Gothic"/>
              <a:buNone/>
            </a:pPr>
            <a:r>
              <a:rPr b="0" i="0" lang="en-US" sz="76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 txBox="1"/>
          <p:nvPr/>
        </p:nvSpPr>
        <p:spPr>
          <a:xfrm>
            <a:off x="7616952" y="2624328"/>
            <a:ext cx="512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60"/>
              <a:buFont typeface="Malgun Gothic"/>
              <a:buNone/>
            </a:pPr>
            <a:r>
              <a:rPr b="0" i="0" lang="en-US" sz="76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60"/>
              <a:buFont typeface="Malgun Gothic"/>
              <a:buNone/>
            </a:pPr>
            <a:r>
              <a:rPr b="0" i="0" lang="en-US" sz="76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 txBox="1"/>
          <p:nvPr/>
        </p:nvSpPr>
        <p:spPr>
          <a:xfrm>
            <a:off x="7616952" y="3675888"/>
            <a:ext cx="512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60"/>
              <a:buFont typeface="Malgun Gothic"/>
              <a:buNone/>
            </a:pPr>
            <a:r>
              <a:rPr b="0" i="0" lang="en-US" sz="76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842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60"/>
              <a:buFont typeface="Malgun Gothic"/>
              <a:buNone/>
            </a:pPr>
            <a:r>
              <a:rPr b="0" i="0" lang="en-US" sz="76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8183880" y="1572768"/>
            <a:ext cx="1188600" cy="1051500"/>
          </a:xfrm>
          <a:prstGeom prst="rect">
            <a:avLst/>
          </a:prstGeom>
          <a:solidFill>
            <a:srgbClr val="EAF1F0"/>
          </a:solidFill>
          <a:ln cap="flat" cmpd="sng" w="9525">
            <a:solidFill>
              <a:srgbClr val="D8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5"/>
          <p:cNvSpPr txBox="1"/>
          <p:nvPr/>
        </p:nvSpPr>
        <p:spPr>
          <a:xfrm>
            <a:off x="8238744" y="1645920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5E"/>
              </a:buClr>
              <a:buSzPts val="780"/>
              <a:buFont typeface="Malgun Gothic"/>
              <a:buNone/>
            </a:pPr>
            <a:r>
              <a:rPr b="1" i="0" lang="en-US" sz="78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선결 과제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 txBox="1"/>
          <p:nvPr/>
        </p:nvSpPr>
        <p:spPr>
          <a:xfrm>
            <a:off x="8238744" y="1883664"/>
            <a:ext cx="107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5E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84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8238744" y="2322576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16%   총점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9372600" y="1572768"/>
            <a:ext cx="1188600" cy="1051500"/>
          </a:xfrm>
          <a:prstGeom prst="rect">
            <a:avLst/>
          </a:prstGeom>
          <a:solidFill>
            <a:srgbClr val="E3F1EF"/>
          </a:solidFill>
          <a:ln cap="flat" cmpd="sng" w="9525">
            <a:solidFill>
              <a:srgbClr val="D8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 txBox="1"/>
          <p:nvPr/>
        </p:nvSpPr>
        <p:spPr>
          <a:xfrm>
            <a:off x="9427464" y="1645920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5E"/>
              </a:buClr>
              <a:buSzPts val="780"/>
              <a:buFont typeface="Malgun Gothic"/>
              <a:buNone/>
            </a:pPr>
            <a:r>
              <a:rPr b="1" i="0" lang="en-US" sz="78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표준화 병행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 txBox="1"/>
          <p:nvPr/>
        </p:nvSpPr>
        <p:spPr>
          <a:xfrm>
            <a:off x="9427464" y="1883664"/>
            <a:ext cx="107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5E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80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 txBox="1"/>
          <p:nvPr/>
        </p:nvSpPr>
        <p:spPr>
          <a:xfrm>
            <a:off x="9427464" y="2322576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15%   총점 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10561320" y="1572768"/>
            <a:ext cx="1188600" cy="1051500"/>
          </a:xfrm>
          <a:prstGeom prst="rect">
            <a:avLst/>
          </a:prstGeom>
          <a:solidFill>
            <a:srgbClr val="CDE7E4"/>
          </a:solidFill>
          <a:ln cap="flat" cmpd="sng" w="9525">
            <a:solidFill>
              <a:srgbClr val="D8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5"/>
          <p:cNvSpPr txBox="1"/>
          <p:nvPr/>
        </p:nvSpPr>
        <p:spPr>
          <a:xfrm>
            <a:off x="10616184" y="1645920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5E"/>
              </a:buClr>
              <a:buSzPts val="780"/>
              <a:buFont typeface="Malgun Gothic"/>
              <a:buNone/>
            </a:pPr>
            <a:r>
              <a:rPr b="1" i="0" lang="en-US" sz="78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즉시 착수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 txBox="1"/>
          <p:nvPr/>
        </p:nvSpPr>
        <p:spPr>
          <a:xfrm>
            <a:off x="10616184" y="1883664"/>
            <a:ext cx="107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5E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104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 txBox="1"/>
          <p:nvPr/>
        </p:nvSpPr>
        <p:spPr>
          <a:xfrm>
            <a:off x="10616184" y="2322576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20%   총점 18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8183880" y="2624328"/>
            <a:ext cx="1188600" cy="1051500"/>
          </a:xfrm>
          <a:prstGeom prst="rect">
            <a:avLst/>
          </a:prstGeom>
          <a:solidFill>
            <a:srgbClr val="FAE9EA"/>
          </a:solidFill>
          <a:ln cap="flat" cmpd="sng" w="9525">
            <a:solidFill>
              <a:srgbClr val="D8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5"/>
          <p:cNvSpPr txBox="1"/>
          <p:nvPr/>
        </p:nvSpPr>
        <p:spPr>
          <a:xfrm>
            <a:off x="8238744" y="2697480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C2C"/>
              </a:buClr>
              <a:buSzPts val="780"/>
              <a:buFont typeface="Malgun Gothic"/>
              <a:buNone/>
            </a:pPr>
            <a:r>
              <a:rPr b="1" i="0" lang="en-US" sz="780" u="none" cap="none" strike="noStrike">
                <a:solidFill>
                  <a:srgbClr val="9B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보류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 txBox="1"/>
          <p:nvPr/>
        </p:nvSpPr>
        <p:spPr>
          <a:xfrm>
            <a:off x="8238744" y="2935224"/>
            <a:ext cx="107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C2C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9B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46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 txBox="1"/>
          <p:nvPr/>
        </p:nvSpPr>
        <p:spPr>
          <a:xfrm>
            <a:off x="8238744" y="3374136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9%   총점 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9372600" y="2624328"/>
            <a:ext cx="1188600" cy="1051500"/>
          </a:xfrm>
          <a:prstGeom prst="rect">
            <a:avLst/>
          </a:prstGeom>
          <a:solidFill>
            <a:srgbClr val="F1F3F5"/>
          </a:solidFill>
          <a:ln cap="flat" cmpd="sng" w="9525">
            <a:solidFill>
              <a:srgbClr val="D8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5"/>
          <p:cNvSpPr txBox="1"/>
          <p:nvPr/>
        </p:nvSpPr>
        <p:spPr>
          <a:xfrm>
            <a:off x="9427464" y="2697480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80"/>
              <a:buFont typeface="Malgun Gothic"/>
              <a:buNone/>
            </a:pPr>
            <a:r>
              <a:rPr b="1" i="0" lang="en-US" sz="780" u="none" cap="none" strike="noStrike">
                <a:solidFill>
                  <a:srgbClr val="44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 확장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 txBox="1"/>
          <p:nvPr/>
        </p:nvSpPr>
        <p:spPr>
          <a:xfrm>
            <a:off x="9427464" y="2935224"/>
            <a:ext cx="107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44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102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 txBox="1"/>
          <p:nvPr/>
        </p:nvSpPr>
        <p:spPr>
          <a:xfrm>
            <a:off x="9427464" y="3374136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19%   총점 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10561320" y="2624328"/>
            <a:ext cx="1188600" cy="1051500"/>
          </a:xfrm>
          <a:prstGeom prst="rect">
            <a:avLst/>
          </a:prstGeom>
          <a:solidFill>
            <a:srgbClr val="E3F1EF"/>
          </a:solidFill>
          <a:ln cap="flat" cmpd="sng" w="9525">
            <a:solidFill>
              <a:srgbClr val="D8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5"/>
          <p:cNvSpPr txBox="1"/>
          <p:nvPr/>
        </p:nvSpPr>
        <p:spPr>
          <a:xfrm>
            <a:off x="10616184" y="2697480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5E"/>
              </a:buClr>
              <a:buSzPts val="780"/>
              <a:buFont typeface="Malgun Gothic"/>
              <a:buNone/>
            </a:pPr>
            <a:r>
              <a:rPr b="1" i="0" lang="en-US" sz="78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 확장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 txBox="1"/>
          <p:nvPr/>
        </p:nvSpPr>
        <p:spPr>
          <a:xfrm>
            <a:off x="10616184" y="2935224"/>
            <a:ext cx="107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5E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73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 txBox="1"/>
          <p:nvPr/>
        </p:nvSpPr>
        <p:spPr>
          <a:xfrm>
            <a:off x="10616184" y="3374136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14%   총점 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8183880" y="3675888"/>
            <a:ext cx="1188600" cy="1051500"/>
          </a:xfrm>
          <a:prstGeom prst="rect">
            <a:avLst/>
          </a:prstGeom>
          <a:solidFill>
            <a:srgbClr val="F6DCDE"/>
          </a:solidFill>
          <a:ln cap="flat" cmpd="sng" w="9525">
            <a:solidFill>
              <a:srgbClr val="D8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5"/>
          <p:cNvSpPr txBox="1"/>
          <p:nvPr/>
        </p:nvSpPr>
        <p:spPr>
          <a:xfrm>
            <a:off x="8238744" y="3749040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C2C"/>
              </a:buClr>
              <a:buSzPts val="780"/>
              <a:buFont typeface="Malgun Gothic"/>
              <a:buNone/>
            </a:pPr>
            <a:r>
              <a:rPr b="1" i="0" lang="en-US" sz="780" u="none" cap="none" strike="noStrike">
                <a:solidFill>
                  <a:srgbClr val="9B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 txBox="1"/>
          <p:nvPr/>
        </p:nvSpPr>
        <p:spPr>
          <a:xfrm>
            <a:off x="8238744" y="3986784"/>
            <a:ext cx="107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C2C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9B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 txBox="1"/>
          <p:nvPr/>
        </p:nvSpPr>
        <p:spPr>
          <a:xfrm>
            <a:off x="8238744" y="4425696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2%   총점 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9372600" y="3675888"/>
            <a:ext cx="1188600" cy="1051500"/>
          </a:xfrm>
          <a:prstGeom prst="rect">
            <a:avLst/>
          </a:prstGeom>
          <a:solidFill>
            <a:srgbClr val="FAE9EA"/>
          </a:solidFill>
          <a:ln cap="flat" cmpd="sng" w="9525">
            <a:solidFill>
              <a:srgbClr val="D8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"/>
          <p:cNvSpPr txBox="1"/>
          <p:nvPr/>
        </p:nvSpPr>
        <p:spPr>
          <a:xfrm>
            <a:off x="9427464" y="3749040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C2C"/>
              </a:buClr>
              <a:buSzPts val="780"/>
              <a:buFont typeface="Malgun Gothic"/>
              <a:buNone/>
            </a:pPr>
            <a:r>
              <a:rPr b="1" i="0" lang="en-US" sz="780" u="none" cap="none" strike="noStrike">
                <a:solidFill>
                  <a:srgbClr val="9B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여력 시 수집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 txBox="1"/>
          <p:nvPr/>
        </p:nvSpPr>
        <p:spPr>
          <a:xfrm>
            <a:off x="9427464" y="3986784"/>
            <a:ext cx="107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C2C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9B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 txBox="1"/>
          <p:nvPr/>
        </p:nvSpPr>
        <p:spPr>
          <a:xfrm>
            <a:off x="9427464" y="4425696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3%   총점 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10561320" y="3675888"/>
            <a:ext cx="1188600" cy="1051500"/>
          </a:xfrm>
          <a:prstGeom prst="rect">
            <a:avLst/>
          </a:prstGeom>
          <a:solidFill>
            <a:srgbClr val="EAF1F0"/>
          </a:solidFill>
          <a:ln cap="flat" cmpd="sng" w="9525">
            <a:solidFill>
              <a:srgbClr val="D8D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 txBox="1"/>
          <p:nvPr/>
        </p:nvSpPr>
        <p:spPr>
          <a:xfrm>
            <a:off x="10616184" y="3749040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5E"/>
              </a:buClr>
              <a:buSzPts val="780"/>
              <a:buFont typeface="Malgun Gothic"/>
              <a:buNone/>
            </a:pPr>
            <a:r>
              <a:rPr b="1" i="0" lang="en-US" sz="78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여력 시 수집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 txBox="1"/>
          <p:nvPr/>
        </p:nvSpPr>
        <p:spPr>
          <a:xfrm>
            <a:off x="10616184" y="3986784"/>
            <a:ext cx="107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5E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 txBox="1"/>
          <p:nvPr/>
        </p:nvSpPr>
        <p:spPr>
          <a:xfrm>
            <a:off x="10616184" y="4425696"/>
            <a:ext cx="107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algun Gothic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2%   총점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347472" y="4828032"/>
            <a:ext cx="3657600" cy="1188600"/>
          </a:xfrm>
          <a:prstGeom prst="rect">
            <a:avLst/>
          </a:prstGeom>
          <a:solidFill>
            <a:srgbClr val="F7F9FA"/>
          </a:solidFill>
          <a:ln cap="flat" cmpd="sng" w="9525">
            <a:solidFill>
              <a:srgbClr val="E4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5"/>
          <p:cNvSpPr txBox="1"/>
          <p:nvPr/>
        </p:nvSpPr>
        <p:spPr>
          <a:xfrm>
            <a:off x="493776" y="4974336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즉시 착수  104개  (20%)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 txBox="1"/>
          <p:nvPr/>
        </p:nvSpPr>
        <p:spPr>
          <a:xfrm>
            <a:off x="493776" y="5285232"/>
            <a:ext cx="3365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536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20"/>
              <a:buFont typeface="Malgun Gothic"/>
              <a:buNone/>
            </a:pPr>
            <a:r>
              <a:rPr b="0" i="0" lang="en-US" sz="820" u="none" cap="none" strike="noStrike">
                <a:solidFill>
                  <a:srgbClr val="44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X-ray DICOM · 혈액 수치 · 개체 마스터 · 공개 시장통계가 여기에 몰려 있음. PACS · LIS · EMR 연동만으로 확보되므로 1차 파일럿은 이 104개로 착수.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4215384" y="4828032"/>
            <a:ext cx="3657600" cy="1188600"/>
          </a:xfrm>
          <a:prstGeom prst="rect">
            <a:avLst/>
          </a:prstGeom>
          <a:solidFill>
            <a:srgbClr val="F7F9FA"/>
          </a:solidFill>
          <a:ln cap="flat" cmpd="sng" w="9525">
            <a:solidFill>
              <a:srgbClr val="E4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5"/>
          <p:cNvSpPr txBox="1"/>
          <p:nvPr/>
        </p:nvSpPr>
        <p:spPr>
          <a:xfrm>
            <a:off x="4361688" y="4974336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선결 과제  84개  (16%)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 txBox="1"/>
          <p:nvPr/>
        </p:nvSpPr>
        <p:spPr>
          <a:xfrm>
            <a:off x="4361688" y="5285232"/>
            <a:ext cx="3365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536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20"/>
              <a:buFont typeface="Malgun Gothic"/>
              <a:buNone/>
            </a:pPr>
            <a:r>
              <a:rPr b="0" i="0" lang="en-US" sz="820" u="none" cap="none" strike="noStrike">
                <a:solidFill>
                  <a:srgbClr val="44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자유서술 판독문 · 응급 기록 · 보호자 동의. 서비스 성립의 전제이면서 가장 확보가 어려운 구간 — 전체 일정을 좌우하는 실질 리스크.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8083296" y="4828032"/>
            <a:ext cx="3657600" cy="1188600"/>
          </a:xfrm>
          <a:prstGeom prst="rect">
            <a:avLst/>
          </a:prstGeom>
          <a:solidFill>
            <a:srgbClr val="F7F9FA"/>
          </a:solidFill>
          <a:ln cap="flat" cmpd="sng" w="9525">
            <a:solidFill>
              <a:srgbClr val="E4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8229600" y="4974336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응급  평균 6.79점  최저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8229600" y="5285232"/>
            <a:ext cx="3365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536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20"/>
              <a:buFont typeface="Malgun Gothic"/>
              <a:buNone/>
            </a:pPr>
            <a:r>
              <a:rPr b="0" i="0" lang="en-US" sz="820" u="none" cap="none" strike="noStrike">
                <a:solidFill>
                  <a:srgbClr val="444444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가치는 높으나 기록이 가장 안 쌓이는 영역(즉시 착수 0개 · 선결 과제 14개). 데이터 확보보다 기록 양식 개선이 선행되어야 함.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347472" y="6309360"/>
            <a:ext cx="11338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740"/>
              <a:buFont typeface="Malgun Gothic"/>
              <a:buNone/>
            </a:pPr>
            <a:r>
              <a:rPr b="0" i="0" lang="en-US" sz="740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어골도 ①~⑪ 11장의 소골 528개를 전수 추출하여 1 · 3 · 9 척도로 배점(총점 최대 18점). 배점은 중분류 단위 기준값 + 인자 단위 예외 보정 방식이며, 전체 명세와 수식은 별첨 [1. 데이터 수집성 평가표.xlsx]에 수록.</a:t>
            </a:r>
            <a:endParaRPr b="0" i="0" sz="7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"/>
          <p:cNvSpPr/>
          <p:nvPr/>
        </p:nvSpPr>
        <p:spPr>
          <a:xfrm>
            <a:off x="502920" y="384048"/>
            <a:ext cx="82200" cy="82200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6"/>
          <p:cNvSpPr txBox="1"/>
          <p:nvPr/>
        </p:nvSpPr>
        <p:spPr>
          <a:xfrm>
            <a:off x="713232" y="329184"/>
            <a:ext cx="9144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프로젝트 수행 절차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6"/>
          <p:cNvSpPr txBox="1"/>
          <p:nvPr/>
        </p:nvSpPr>
        <p:spPr>
          <a:xfrm>
            <a:off x="502920" y="585216"/>
            <a:ext cx="11201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실데이터를 확인하고 계획을 다시 짰다 — 즉시 착수 104개 → 분석 변수 19개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6"/>
          <p:cNvSpPr txBox="1"/>
          <p:nvPr/>
        </p:nvSpPr>
        <p:spPr>
          <a:xfrm>
            <a:off x="502920" y="1051560"/>
            <a:ext cx="112014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데이터: AI Hub 반려동물 근골격계 X-ray 라벨 16,618건  ·  출처: 변수정의서_실데이터_대조 (대조 요약 · 분석용 변수정의서)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" name="Google Shape;431;p16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32" name="Google Shape;432;p16"/>
          <p:cNvSpPr/>
          <p:nvPr/>
        </p:nvSpPr>
        <p:spPr>
          <a:xfrm>
            <a:off x="502920" y="1691640"/>
            <a:ext cx="3017400" cy="457200"/>
          </a:xfrm>
          <a:prstGeom prst="rect">
            <a:avLst/>
          </a:prstGeom>
          <a:solidFill>
            <a:srgbClr val="2C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6"/>
          <p:cNvSpPr txBox="1"/>
          <p:nvPr/>
        </p:nvSpPr>
        <p:spPr>
          <a:xfrm>
            <a:off x="502920" y="1785908"/>
            <a:ext cx="3017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계획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502920" y="2148840"/>
            <a:ext cx="3017400" cy="35661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3840480" y="1691640"/>
            <a:ext cx="3566100" cy="4572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6"/>
          <p:cNvSpPr txBox="1"/>
          <p:nvPr/>
        </p:nvSpPr>
        <p:spPr>
          <a:xfrm>
            <a:off x="3840480" y="1785908"/>
            <a:ext cx="3566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실데이터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3840480" y="2148840"/>
            <a:ext cx="3566100" cy="35661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7726679" y="1691640"/>
            <a:ext cx="3977700" cy="457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6"/>
          <p:cNvSpPr txBox="1"/>
          <p:nvPr/>
        </p:nvSpPr>
        <p:spPr>
          <a:xfrm>
            <a:off x="7726679" y="1785908"/>
            <a:ext cx="39777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재설계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7726679" y="2148840"/>
            <a:ext cx="3977700" cy="35661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6"/>
          <p:cNvSpPr txBox="1"/>
          <p:nvPr/>
        </p:nvSpPr>
        <p:spPr>
          <a:xfrm>
            <a:off x="3520440" y="3566160"/>
            <a:ext cx="3201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9D0D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6"/>
          <p:cNvSpPr txBox="1"/>
          <p:nvPr/>
        </p:nvSpPr>
        <p:spPr>
          <a:xfrm>
            <a:off x="7406640" y="3566160"/>
            <a:ext cx="3201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9D0D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731520" y="2377440"/>
            <a:ext cx="256020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6"/>
          <p:cNvSpPr txBox="1"/>
          <p:nvPr/>
        </p:nvSpPr>
        <p:spPr>
          <a:xfrm>
            <a:off x="914400" y="2468880"/>
            <a:ext cx="2286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C4A6B"/>
                </a:solidFill>
                <a:latin typeface="Malgun Gothic"/>
                <a:ea typeface="Malgun Gothic"/>
                <a:cs typeface="Malgun Gothic"/>
                <a:sym typeface="Malgun Gothic"/>
              </a:rPr>
              <a:t>528</a:t>
            </a:r>
            <a:r>
              <a:rPr b="1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개 인자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"/>
          <p:cNvSpPr txBox="1"/>
          <p:nvPr/>
        </p:nvSpPr>
        <p:spPr>
          <a:xfrm>
            <a:off x="914400" y="3108960"/>
            <a:ext cx="2286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특성요인도 11개 영역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6"/>
          <p:cNvSpPr txBox="1"/>
          <p:nvPr/>
        </p:nvSpPr>
        <p:spPr>
          <a:xfrm>
            <a:off x="731520" y="3520440"/>
            <a:ext cx="25602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9D0D3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731520" y="3794760"/>
            <a:ext cx="256020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6"/>
          <p:cNvSpPr txBox="1"/>
          <p:nvPr/>
        </p:nvSpPr>
        <p:spPr>
          <a:xfrm>
            <a:off x="914400" y="3886200"/>
            <a:ext cx="2286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C4A6B"/>
                </a:solidFill>
                <a:latin typeface="Malgun Gothic"/>
                <a:ea typeface="Malgun Gothic"/>
                <a:cs typeface="Malgun Gothic"/>
                <a:sym typeface="Malgun Gothic"/>
              </a:rPr>
              <a:t>104</a:t>
            </a:r>
            <a:r>
              <a:rPr b="1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개 즉시 착수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914400" y="4526280"/>
            <a:ext cx="2286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 × 수집가능성 1·3·9점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6"/>
          <p:cNvSpPr txBox="1"/>
          <p:nvPr/>
        </p:nvSpPr>
        <p:spPr>
          <a:xfrm>
            <a:off x="731520" y="5230368"/>
            <a:ext cx="25602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전체에 필요한 데이터를 빠짐없이 설계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4069080" y="2377440"/>
            <a:ext cx="3108900" cy="132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6"/>
          <p:cNvSpPr txBox="1"/>
          <p:nvPr/>
        </p:nvSpPr>
        <p:spPr>
          <a:xfrm>
            <a:off x="4251960" y="2450592"/>
            <a:ext cx="2834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r>
              <a:rPr b="1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6"/>
          <p:cNvSpPr txBox="1"/>
          <p:nvPr/>
        </p:nvSpPr>
        <p:spPr>
          <a:xfrm>
            <a:off x="4251960" y="3108960"/>
            <a:ext cx="28347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104개 중 바로 분석할 수 있는 변수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(실데이터 있음 4 + 가공하면 가능 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6"/>
          <p:cNvSpPr txBox="1"/>
          <p:nvPr/>
        </p:nvSpPr>
        <p:spPr>
          <a:xfrm>
            <a:off x="4069080" y="3840480"/>
            <a:ext cx="31089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실데이터에 없는 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4069080" y="4206240"/>
            <a:ext cx="1508700" cy="457200"/>
          </a:xfrm>
          <a:prstGeom prst="rect">
            <a:avLst/>
          </a:prstGeom>
          <a:solidFill>
            <a:srgbClr val="F6E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6"/>
          <p:cNvSpPr txBox="1"/>
          <p:nvPr/>
        </p:nvSpPr>
        <p:spPr>
          <a:xfrm>
            <a:off x="4069080" y="4324075"/>
            <a:ext cx="15087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  품종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5669280" y="4206240"/>
            <a:ext cx="1508700" cy="457200"/>
          </a:xfrm>
          <a:prstGeom prst="rect">
            <a:avLst/>
          </a:prstGeom>
          <a:solidFill>
            <a:srgbClr val="F6E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6"/>
          <p:cNvSpPr txBox="1"/>
          <p:nvPr/>
        </p:nvSpPr>
        <p:spPr>
          <a:xfrm>
            <a:off x="5669280" y="4324075"/>
            <a:ext cx="15087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  체중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4069080" y="4773168"/>
            <a:ext cx="1508700" cy="457200"/>
          </a:xfrm>
          <a:prstGeom prst="rect">
            <a:avLst/>
          </a:prstGeom>
          <a:solidFill>
            <a:srgbClr val="F6E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6"/>
          <p:cNvSpPr txBox="1"/>
          <p:nvPr/>
        </p:nvSpPr>
        <p:spPr>
          <a:xfrm>
            <a:off x="4069080" y="4891003"/>
            <a:ext cx="15087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  혈액수치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5669280" y="4773168"/>
            <a:ext cx="1508700" cy="457200"/>
          </a:xfrm>
          <a:prstGeom prst="rect">
            <a:avLst/>
          </a:prstGeom>
          <a:solidFill>
            <a:srgbClr val="F6E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6"/>
          <p:cNvSpPr txBox="1"/>
          <p:nvPr/>
        </p:nvSpPr>
        <p:spPr>
          <a:xfrm>
            <a:off x="5669280" y="4891003"/>
            <a:ext cx="15087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  투약 이력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6"/>
          <p:cNvSpPr txBox="1"/>
          <p:nvPr/>
        </p:nvSpPr>
        <p:spPr>
          <a:xfrm>
            <a:off x="4069080" y="5349240"/>
            <a:ext cx="3108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개체의 영상 + 검사 + 투약 실데이터 없음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7909560" y="2240280"/>
            <a:ext cx="567000" cy="567000"/>
          </a:xfrm>
          <a:prstGeom prst="ellipse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6"/>
          <p:cNvSpPr txBox="1"/>
          <p:nvPr/>
        </p:nvSpPr>
        <p:spPr>
          <a:xfrm>
            <a:off x="7909560" y="2393466"/>
            <a:ext cx="5670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6"/>
          <p:cNvSpPr txBox="1"/>
          <p:nvPr/>
        </p:nvSpPr>
        <p:spPr>
          <a:xfrm>
            <a:off x="8595360" y="2316260"/>
            <a:ext cx="30174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6283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변수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6"/>
          <p:cNvSpPr txBox="1"/>
          <p:nvPr/>
        </p:nvSpPr>
        <p:spPr>
          <a:xfrm>
            <a:off x="8595360" y="2572292"/>
            <a:ext cx="3017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이상소견 여부 (ABN = 1 / NOR =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7909560" y="2862072"/>
            <a:ext cx="567000" cy="567000"/>
          </a:xfrm>
          <a:prstGeom prst="ellipse">
            <a:avLst/>
          </a:prstGeom>
          <a:solidFill>
            <a:srgbClr val="2C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6"/>
          <p:cNvSpPr txBox="1"/>
          <p:nvPr/>
        </p:nvSpPr>
        <p:spPr>
          <a:xfrm>
            <a:off x="7909560" y="3015258"/>
            <a:ext cx="5670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6"/>
          <p:cNvSpPr txBox="1"/>
          <p:nvPr/>
        </p:nvSpPr>
        <p:spPr>
          <a:xfrm>
            <a:off x="8595360" y="2938052"/>
            <a:ext cx="30174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4A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층별화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6"/>
          <p:cNvSpPr txBox="1"/>
          <p:nvPr/>
        </p:nvSpPr>
        <p:spPr>
          <a:xfrm>
            <a:off x="8595360" y="3194084"/>
            <a:ext cx="30174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질환군 · 축종 · 성별 · 중성화 · 나이 · 병원 · 촬영일 · 촬영 자세 · 촬영 부위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7909560" y="3483864"/>
            <a:ext cx="567000" cy="567000"/>
          </a:xfrm>
          <a:prstGeom prst="ellipse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6"/>
          <p:cNvSpPr txBox="1"/>
          <p:nvPr/>
        </p:nvSpPr>
        <p:spPr>
          <a:xfrm>
            <a:off x="7909560" y="3637050"/>
            <a:ext cx="5670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6"/>
          <p:cNvSpPr txBox="1"/>
          <p:nvPr/>
        </p:nvSpPr>
        <p:spPr>
          <a:xfrm>
            <a:off x="8595360" y="3559844"/>
            <a:ext cx="30174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6E76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결합키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8595360" y="3815876"/>
            <a:ext cx="3017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fileName · annotation ID · 추정 개체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7909560" y="4105656"/>
            <a:ext cx="567000" cy="567000"/>
          </a:xfrm>
          <a:prstGeom prst="ellipse">
            <a:avLst/>
          </a:prstGeom>
          <a:solidFill>
            <a:srgbClr val="6B7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6"/>
          <p:cNvSpPr txBox="1"/>
          <p:nvPr/>
        </p:nvSpPr>
        <p:spPr>
          <a:xfrm>
            <a:off x="7909560" y="4258842"/>
            <a:ext cx="5670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6"/>
          <p:cNvSpPr txBox="1"/>
          <p:nvPr/>
        </p:nvSpPr>
        <p:spPr>
          <a:xfrm>
            <a:off x="8595360" y="4181636"/>
            <a:ext cx="30174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6"/>
          <p:cNvSpPr txBox="1"/>
          <p:nvPr/>
        </p:nvSpPr>
        <p:spPr>
          <a:xfrm>
            <a:off x="8595360" y="4437668"/>
            <a:ext cx="3017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생년월일(나이 계산) · 병변 박스 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7909560" y="4727448"/>
            <a:ext cx="567000" cy="567000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6"/>
          <p:cNvSpPr txBox="1"/>
          <p:nvPr/>
        </p:nvSpPr>
        <p:spPr>
          <a:xfrm>
            <a:off x="7909560" y="4880634"/>
            <a:ext cx="5670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6"/>
          <p:cNvSpPr txBox="1"/>
          <p:nvPr/>
        </p:nvSpPr>
        <p:spPr>
          <a:xfrm>
            <a:off x="8595360" y="4803428"/>
            <a:ext cx="30174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가상 데이터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6"/>
          <p:cNvSpPr txBox="1"/>
          <p:nvPr/>
        </p:nvSpPr>
        <p:spPr>
          <a:xfrm>
            <a:off x="8595360" y="5059460"/>
            <a:ext cx="3017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체중 · 혈액수치 · 투약 이력 · 품종* → 결합 구조 검증에만 사용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6"/>
          <p:cNvSpPr txBox="1"/>
          <p:nvPr/>
        </p:nvSpPr>
        <p:spPr>
          <a:xfrm>
            <a:off x="7909560" y="5422392"/>
            <a:ext cx="36576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합계 19개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6"/>
          <p:cNvSpPr txBox="1"/>
          <p:nvPr/>
        </p:nvSpPr>
        <p:spPr>
          <a:xfrm>
            <a:off x="8869680" y="5440680"/>
            <a:ext cx="2743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품종은 가상 생성 또는 제외 (팀 결정)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502920" y="5897880"/>
            <a:ext cx="11201400" cy="5670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6"/>
          <p:cNvSpPr txBox="1"/>
          <p:nvPr/>
        </p:nvSpPr>
        <p:spPr>
          <a:xfrm>
            <a:off x="777240" y="6062849"/>
            <a:ext cx="106527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528개 인자 설계는 버리지 않고, 서비스가 확장될 때의 데이터 로드맵으로 유지한다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7"/>
          <p:cNvSpPr/>
          <p:nvPr/>
        </p:nvSpPr>
        <p:spPr>
          <a:xfrm>
            <a:off x="502921" y="384048"/>
            <a:ext cx="82200" cy="82200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 txBox="1"/>
          <p:nvPr/>
        </p:nvSpPr>
        <p:spPr>
          <a:xfrm>
            <a:off x="713233" y="329184"/>
            <a:ext cx="9601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데이터 특성 요인도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7"/>
          <p:cNvSpPr txBox="1"/>
          <p:nvPr/>
        </p:nvSpPr>
        <p:spPr>
          <a:xfrm>
            <a:off x="502921" y="585216"/>
            <a:ext cx="1069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데이터 특성요인도 (Fishbone Diagram)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7"/>
          <p:cNvSpPr txBox="1"/>
          <p:nvPr/>
        </p:nvSpPr>
        <p:spPr>
          <a:xfrm>
            <a:off x="502921" y="1051560"/>
            <a:ext cx="10698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5개 관점(개체·수집경로·촬영조건·진단라벨·주석품질)으로 데이터 특성 원인을 분해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17"/>
          <p:cNvCxnSpPr/>
          <p:nvPr/>
        </p:nvCxnSpPr>
        <p:spPr>
          <a:xfrm>
            <a:off x="502921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7" name="Google Shape;497;p17"/>
          <p:cNvSpPr txBox="1"/>
          <p:nvPr/>
        </p:nvSpPr>
        <p:spPr>
          <a:xfrm>
            <a:off x="-137160" y="3904488"/>
            <a:ext cx="12801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musculoskeletal_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labels.csv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8" name="Google Shape;498;p17"/>
          <p:cNvCxnSpPr/>
          <p:nvPr/>
        </p:nvCxnSpPr>
        <p:spPr>
          <a:xfrm>
            <a:off x="1188722" y="4160520"/>
            <a:ext cx="8092500" cy="0"/>
          </a:xfrm>
          <a:prstGeom prst="straightConnector1">
            <a:avLst/>
          </a:prstGeom>
          <a:noFill/>
          <a:ln cap="flat" cmpd="sng" w="33000">
            <a:solidFill>
              <a:srgbClr val="1628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17"/>
          <p:cNvSpPr/>
          <p:nvPr/>
        </p:nvSpPr>
        <p:spPr>
          <a:xfrm rot="5400000">
            <a:off x="9262759" y="4059936"/>
            <a:ext cx="201300" cy="201300"/>
          </a:xfrm>
          <a:prstGeom prst="triangle">
            <a:avLst>
              <a:gd fmla="val 50000" name="adj"/>
            </a:avLst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9464059" y="3589020"/>
            <a:ext cx="1783200" cy="11430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 txBox="1"/>
          <p:nvPr/>
        </p:nvSpPr>
        <p:spPr>
          <a:xfrm>
            <a:off x="9573788" y="3753612"/>
            <a:ext cx="15636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근골격계 판독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학습데이터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7"/>
          <p:cNvSpPr txBox="1"/>
          <p:nvPr/>
        </p:nvSpPr>
        <p:spPr>
          <a:xfrm>
            <a:off x="9573788" y="4347972"/>
            <a:ext cx="1563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DE7E4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품질·활용성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3" name="Google Shape;503;p17"/>
          <p:cNvCxnSpPr/>
          <p:nvPr/>
        </p:nvCxnSpPr>
        <p:spPr>
          <a:xfrm rot="10800000">
            <a:off x="1371545" y="2834520"/>
            <a:ext cx="1234500" cy="1326000"/>
          </a:xfrm>
          <a:prstGeom prst="straightConnector1">
            <a:avLst/>
          </a:prstGeom>
          <a:noFill/>
          <a:ln cap="flat" cmpd="sng" w="27925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17"/>
          <p:cNvSpPr/>
          <p:nvPr/>
        </p:nvSpPr>
        <p:spPr>
          <a:xfrm>
            <a:off x="1312167" y="2775204"/>
            <a:ext cx="118800" cy="11880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 txBox="1"/>
          <p:nvPr/>
        </p:nvSpPr>
        <p:spPr>
          <a:xfrm>
            <a:off x="411481" y="2450592"/>
            <a:ext cx="192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개체 특성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7"/>
          <p:cNvSpPr txBox="1"/>
          <p:nvPr/>
        </p:nvSpPr>
        <p:spPr>
          <a:xfrm>
            <a:off x="1430981" y="3058364"/>
            <a:ext cx="1920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Species · Sex · Birth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6B76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·  age_years (파생)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" name="Google Shape;507;p17"/>
          <p:cNvCxnSpPr/>
          <p:nvPr/>
        </p:nvCxnSpPr>
        <p:spPr>
          <a:xfrm flipH="1">
            <a:off x="3200349" y="4160520"/>
            <a:ext cx="1234500" cy="1326000"/>
          </a:xfrm>
          <a:prstGeom prst="straightConnector1">
            <a:avLst/>
          </a:prstGeom>
          <a:noFill/>
          <a:ln cap="flat" cmpd="sng" w="27925">
            <a:solidFill>
              <a:srgbClr val="2C4A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p17"/>
          <p:cNvSpPr/>
          <p:nvPr/>
        </p:nvSpPr>
        <p:spPr>
          <a:xfrm>
            <a:off x="3140969" y="5426964"/>
            <a:ext cx="118800" cy="118800"/>
          </a:xfrm>
          <a:prstGeom prst="ellipse">
            <a:avLst/>
          </a:prstGeom>
          <a:solidFill>
            <a:srgbClr val="2C4A6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 txBox="1"/>
          <p:nvPr/>
        </p:nvSpPr>
        <p:spPr>
          <a:xfrm>
            <a:off x="2240284" y="5577840"/>
            <a:ext cx="192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경로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7"/>
          <p:cNvSpPr txBox="1"/>
          <p:nvPr/>
        </p:nvSpPr>
        <p:spPr>
          <a:xfrm>
            <a:off x="3718657" y="4671655"/>
            <a:ext cx="1920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Hospital-id (21개 기관)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6B76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기관별 건수 편중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" name="Google Shape;511;p17"/>
          <p:cNvCxnSpPr/>
          <p:nvPr/>
        </p:nvCxnSpPr>
        <p:spPr>
          <a:xfrm rot="10800000">
            <a:off x="4846272" y="2834520"/>
            <a:ext cx="1234500" cy="1326000"/>
          </a:xfrm>
          <a:prstGeom prst="straightConnector1">
            <a:avLst/>
          </a:prstGeom>
          <a:noFill/>
          <a:ln cap="flat" cmpd="sng" w="27925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2" name="Google Shape;512;p17"/>
          <p:cNvSpPr/>
          <p:nvPr/>
        </p:nvSpPr>
        <p:spPr>
          <a:xfrm>
            <a:off x="4786894" y="2775204"/>
            <a:ext cx="118800" cy="11880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 txBox="1"/>
          <p:nvPr/>
        </p:nvSpPr>
        <p:spPr>
          <a:xfrm>
            <a:off x="3886208" y="2450592"/>
            <a:ext cx="192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촬영 조건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7"/>
          <p:cNvSpPr txBox="1"/>
          <p:nvPr/>
        </p:nvSpPr>
        <p:spPr>
          <a:xfrm>
            <a:off x="4846283" y="2989591"/>
            <a:ext cx="1920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Position (4종) · 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6B76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·  질환코드–자세 상관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5" name="Google Shape;515;p17"/>
          <p:cNvCxnSpPr/>
          <p:nvPr/>
        </p:nvCxnSpPr>
        <p:spPr>
          <a:xfrm flipH="1">
            <a:off x="6492195" y="4160520"/>
            <a:ext cx="1234500" cy="1326000"/>
          </a:xfrm>
          <a:prstGeom prst="straightConnector1">
            <a:avLst/>
          </a:prstGeom>
          <a:noFill/>
          <a:ln cap="flat" cmpd="sng" w="27925">
            <a:solidFill>
              <a:srgbClr val="2C4A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p17"/>
          <p:cNvSpPr/>
          <p:nvPr/>
        </p:nvSpPr>
        <p:spPr>
          <a:xfrm>
            <a:off x="6432817" y="5426964"/>
            <a:ext cx="118800" cy="118800"/>
          </a:xfrm>
          <a:prstGeom prst="ellipse">
            <a:avLst/>
          </a:prstGeom>
          <a:solidFill>
            <a:srgbClr val="2C4A6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 txBox="1"/>
          <p:nvPr/>
        </p:nvSpPr>
        <p:spPr>
          <a:xfrm>
            <a:off x="5532131" y="5577840"/>
            <a:ext cx="192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진단 라벨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7"/>
          <p:cNvSpPr txBox="1"/>
          <p:nvPr/>
        </p:nvSpPr>
        <p:spPr>
          <a:xfrm>
            <a:off x="6909840" y="4767960"/>
            <a:ext cx="1920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·  Disease(정상/비정상)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6B76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Disease-Name (7종)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9" name="Google Shape;519;p17"/>
          <p:cNvCxnSpPr/>
          <p:nvPr/>
        </p:nvCxnSpPr>
        <p:spPr>
          <a:xfrm rot="10800000">
            <a:off x="7807158" y="2796420"/>
            <a:ext cx="1199700" cy="1364100"/>
          </a:xfrm>
          <a:prstGeom prst="straightConnector1">
            <a:avLst/>
          </a:prstGeom>
          <a:noFill/>
          <a:ln cap="flat" cmpd="sng" w="27925">
            <a:solidFill>
              <a:srgbClr val="6B76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0" name="Google Shape;520;p17"/>
          <p:cNvSpPr/>
          <p:nvPr/>
        </p:nvSpPr>
        <p:spPr>
          <a:xfrm>
            <a:off x="7752685" y="2743242"/>
            <a:ext cx="118800" cy="118800"/>
          </a:xfrm>
          <a:prstGeom prst="ellipse">
            <a:avLst/>
          </a:prstGeom>
          <a:solidFill>
            <a:srgbClr val="6B768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 txBox="1"/>
          <p:nvPr/>
        </p:nvSpPr>
        <p:spPr>
          <a:xfrm>
            <a:off x="6831514" y="2450592"/>
            <a:ext cx="192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주석 품질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7"/>
          <p:cNvSpPr txBox="1"/>
          <p:nvPr/>
        </p:nvSpPr>
        <p:spPr>
          <a:xfrm>
            <a:off x="8005224" y="2989602"/>
            <a:ext cx="1920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Annotation-id · fileName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6B76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·  n_boxes (1~2개)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8"/>
          <p:cNvSpPr/>
          <p:nvPr/>
        </p:nvSpPr>
        <p:spPr>
          <a:xfrm>
            <a:off x="502921" y="384048"/>
            <a:ext cx="82200" cy="82200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8"/>
          <p:cNvSpPr txBox="1"/>
          <p:nvPr/>
        </p:nvSpPr>
        <p:spPr>
          <a:xfrm>
            <a:off x="502921" y="585216"/>
            <a:ext cx="1069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수집성 평가표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8"/>
          <p:cNvSpPr txBox="1"/>
          <p:nvPr/>
        </p:nvSpPr>
        <p:spPr>
          <a:xfrm>
            <a:off x="502921" y="1051560"/>
            <a:ext cx="10698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 · 3 · 9 척도 — 중요도 × 수집가능성으로 변수 우선순위 산정 (13개 변수 전수 평가)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0" name="Google Shape;530;p18"/>
          <p:cNvCxnSpPr/>
          <p:nvPr/>
        </p:nvCxnSpPr>
        <p:spPr>
          <a:xfrm>
            <a:off x="502921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graphicFrame>
        <p:nvGraphicFramePr>
          <p:cNvPr id="531" name="Google Shape;531;p18"/>
          <p:cNvGraphicFramePr/>
          <p:nvPr/>
        </p:nvGraphicFramePr>
        <p:xfrm>
          <a:off x="502921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{1DC7825B-A114-4039-B4B5-C50D32779833}</a:tableStyleId>
              </a:tblPr>
              <a:tblGrid>
                <a:gridCol w="1737350"/>
                <a:gridCol w="1051550"/>
                <a:gridCol w="960125"/>
                <a:gridCol w="1051550"/>
                <a:gridCol w="64008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변수명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중요도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(1·3·9)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수집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가능성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우선순위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점수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 근거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16283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Disease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81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정상/비정상 핵심 타깃 라벨, 이미 판독 완료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Position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81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촬영 자세별 입력 조건·전처리 분기 결정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n_boxes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81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병변 객체 수, detection 학습 라벨 핵심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age_years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81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질환 유병률과 상관 높은 핵심 공변량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Species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81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종별 골격 구조·유병률 차이, 모델 분기 필요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Disease-Name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2C4A6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27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세부 진단/부위 코드, 단 원본 코드북 미확보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Sex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2C4A6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27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중성화 여부 등 소인 차이, 보조 변수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Hospital-id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2C4A6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27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기관 간 장비·프로토콜 편차 확인용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2C4A6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27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촬영 시점, 장비 세대·시계열 추이 파악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fileName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2C4A6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27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메타데이터 조합키, 무결성 검증·역추적용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Birth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2C4A6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27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age_years 산출 원천, 직접 활용도는 낮음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Mission-id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과제 식별 상수값, 분석적 의미 없음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Annotation-id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관리용 고유키, 임상적 의미 없음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32" name="Google Shape;532;p18"/>
          <p:cNvSpPr txBox="1"/>
          <p:nvPr/>
        </p:nvSpPr>
        <p:spPr>
          <a:xfrm>
            <a:off x="713232" y="329184"/>
            <a:ext cx="9144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프로젝트 수행 절차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9"/>
          <p:cNvSpPr/>
          <p:nvPr/>
        </p:nvSpPr>
        <p:spPr>
          <a:xfrm>
            <a:off x="502921" y="384048"/>
            <a:ext cx="82200" cy="82200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9"/>
          <p:cNvSpPr txBox="1"/>
          <p:nvPr/>
        </p:nvSpPr>
        <p:spPr>
          <a:xfrm>
            <a:off x="502921" y="585216"/>
            <a:ext cx="1069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우선순위 구간별 착수 순서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9"/>
          <p:cNvSpPr txBox="1"/>
          <p:nvPr/>
        </p:nvSpPr>
        <p:spPr>
          <a:xfrm>
            <a:off x="502921" y="1051560"/>
            <a:ext cx="10698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 점수 구간에 따라 즉시 착수 · 단기 확보 · 관리 대상으로 구분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0" name="Google Shape;540;p19"/>
          <p:cNvCxnSpPr/>
          <p:nvPr/>
        </p:nvCxnSpPr>
        <p:spPr>
          <a:xfrm>
            <a:off x="502921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41" name="Google Shape;541;p19"/>
          <p:cNvSpPr/>
          <p:nvPr/>
        </p:nvSpPr>
        <p:spPr>
          <a:xfrm>
            <a:off x="502921" y="1783080"/>
            <a:ext cx="3612000" cy="4206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502921" y="1783080"/>
            <a:ext cx="3612000" cy="549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 txBox="1"/>
          <p:nvPr/>
        </p:nvSpPr>
        <p:spPr>
          <a:xfrm>
            <a:off x="731522" y="2011680"/>
            <a:ext cx="315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즉시 착수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9"/>
          <p:cNvSpPr txBox="1"/>
          <p:nvPr/>
        </p:nvSpPr>
        <p:spPr>
          <a:xfrm>
            <a:off x="731522" y="2350008"/>
            <a:ext cx="315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81점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5" name="Google Shape;545;p19"/>
          <p:cNvCxnSpPr/>
          <p:nvPr/>
        </p:nvCxnSpPr>
        <p:spPr>
          <a:xfrm>
            <a:off x="731522" y="2862072"/>
            <a:ext cx="31548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46" name="Google Shape;546;p19"/>
          <p:cNvSpPr txBox="1"/>
          <p:nvPr/>
        </p:nvSpPr>
        <p:spPr>
          <a:xfrm>
            <a:off x="731522" y="3017520"/>
            <a:ext cx="315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Disease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Position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n_boxes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age_years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Species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9"/>
          <p:cNvSpPr txBox="1"/>
          <p:nvPr/>
        </p:nvSpPr>
        <p:spPr>
          <a:xfrm>
            <a:off x="731522" y="4983480"/>
            <a:ext cx="315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타깃·입력 조건 변수 — 모델 학습 파이프라인에 우선 반영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4297689" y="1783080"/>
            <a:ext cx="3612000" cy="4206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4297689" y="1783080"/>
            <a:ext cx="3612000" cy="54900"/>
          </a:xfrm>
          <a:prstGeom prst="rect">
            <a:avLst/>
          </a:prstGeom>
          <a:solidFill>
            <a:srgbClr val="2C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 txBox="1"/>
          <p:nvPr/>
        </p:nvSpPr>
        <p:spPr>
          <a:xfrm>
            <a:off x="4526289" y="2011680"/>
            <a:ext cx="315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단기 확보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9"/>
          <p:cNvSpPr txBox="1"/>
          <p:nvPr/>
        </p:nvSpPr>
        <p:spPr>
          <a:xfrm>
            <a:off x="4526289" y="2350008"/>
            <a:ext cx="315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C4A6B"/>
                </a:solidFill>
                <a:latin typeface="Malgun Gothic"/>
                <a:ea typeface="Malgun Gothic"/>
                <a:cs typeface="Malgun Gothic"/>
                <a:sym typeface="Malgun Gothic"/>
              </a:rPr>
              <a:t>27점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19"/>
          <p:cNvCxnSpPr/>
          <p:nvPr/>
        </p:nvCxnSpPr>
        <p:spPr>
          <a:xfrm>
            <a:off x="4526289" y="2862072"/>
            <a:ext cx="31548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53" name="Google Shape;553;p19"/>
          <p:cNvSpPr txBox="1"/>
          <p:nvPr/>
        </p:nvSpPr>
        <p:spPr>
          <a:xfrm>
            <a:off x="4526289" y="3017520"/>
            <a:ext cx="3154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Disease-Name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Sex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Hospital-id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fileName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Birth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9"/>
          <p:cNvSpPr txBox="1"/>
          <p:nvPr/>
        </p:nvSpPr>
        <p:spPr>
          <a:xfrm>
            <a:off x="4526289" y="4983480"/>
            <a:ext cx="315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보조·설명 변수 — 코드북 확보 등 정비 후 순차 반영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8092457" y="1783080"/>
            <a:ext cx="3612000" cy="4206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9"/>
          <p:cNvSpPr/>
          <p:nvPr/>
        </p:nvSpPr>
        <p:spPr>
          <a:xfrm>
            <a:off x="8092457" y="1783080"/>
            <a:ext cx="3612000" cy="54900"/>
          </a:xfrm>
          <a:prstGeom prst="rect">
            <a:avLst/>
          </a:prstGeom>
          <a:solidFill>
            <a:srgbClr val="6B7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9"/>
          <p:cNvSpPr txBox="1"/>
          <p:nvPr/>
        </p:nvSpPr>
        <p:spPr>
          <a:xfrm>
            <a:off x="8321057" y="2011680"/>
            <a:ext cx="315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 대상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9"/>
          <p:cNvSpPr txBox="1"/>
          <p:nvPr/>
        </p:nvSpPr>
        <p:spPr>
          <a:xfrm>
            <a:off x="8321057" y="2350008"/>
            <a:ext cx="315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9점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9" name="Google Shape;559;p19"/>
          <p:cNvCxnSpPr/>
          <p:nvPr/>
        </p:nvCxnSpPr>
        <p:spPr>
          <a:xfrm>
            <a:off x="8321057" y="2862072"/>
            <a:ext cx="31548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60" name="Google Shape;560;p19"/>
          <p:cNvSpPr txBox="1"/>
          <p:nvPr/>
        </p:nvSpPr>
        <p:spPr>
          <a:xfrm>
            <a:off x="8321057" y="3017520"/>
            <a:ext cx="315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Mission-id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 Annotation-id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9"/>
          <p:cNvSpPr txBox="1"/>
          <p:nvPr/>
        </p:nvSpPr>
        <p:spPr>
          <a:xfrm>
            <a:off x="8321057" y="4983480"/>
            <a:ext cx="315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분석적 의미가 낮은 식별용 변수 — 추적·검증 용도로만 보관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9"/>
          <p:cNvSpPr txBox="1"/>
          <p:nvPr/>
        </p:nvSpPr>
        <p:spPr>
          <a:xfrm>
            <a:off x="713232" y="329184"/>
            <a:ext cx="9144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프로젝트 수행 절차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0"/>
          <p:cNvSpPr/>
          <p:nvPr/>
        </p:nvSpPr>
        <p:spPr>
          <a:xfrm>
            <a:off x="502920" y="384048"/>
            <a:ext cx="82200" cy="82200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0"/>
          <p:cNvSpPr txBox="1"/>
          <p:nvPr/>
        </p:nvSpPr>
        <p:spPr>
          <a:xfrm>
            <a:off x="713232" y="329184"/>
            <a:ext cx="9144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프로젝트 수행 절차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0"/>
          <p:cNvSpPr txBox="1"/>
          <p:nvPr/>
        </p:nvSpPr>
        <p:spPr>
          <a:xfrm>
            <a:off x="502920" y="585216"/>
            <a:ext cx="11201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분석용 변수정의서 — 실제 · 파생 · 가상 19개 변수 (상세)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0"/>
          <p:cNvSpPr txBox="1"/>
          <p:nvPr/>
        </p:nvSpPr>
        <p:spPr>
          <a:xfrm>
            <a:off x="502920" y="1051560"/>
            <a:ext cx="112014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실데이터 라벨 CSV 16,618건  +  가상 데이터 4개 테이블 (개체 2,000 · 영상 7,519 · 혈액 42,350 · 처방 1,443)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1" name="Google Shape;571;p20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graphicFrame>
        <p:nvGraphicFramePr>
          <p:cNvPr id="572" name="Google Shape;572;p20"/>
          <p:cNvGraphicFramePr/>
          <p:nvPr/>
        </p:nvGraphicFramePr>
        <p:xfrm>
          <a:off x="50292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{CAA4FD32-8356-4CA7-A824-87DD62895576}</a:tableStyleId>
              </a:tblPr>
              <a:tblGrid>
                <a:gridCol w="1417325"/>
                <a:gridCol w="1234450"/>
                <a:gridCol w="685800"/>
                <a:gridCol w="2148850"/>
                <a:gridCol w="960125"/>
                <a:gridCol w="868675"/>
                <a:gridCol w="3886200"/>
              </a:tblGrid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변수명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한글명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타입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원천 컬럼 / 테이블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출처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분석 역할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fileName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영상 파일 이름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문자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fileName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결합키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가상 데이터 study_id와 같은 형식 → 영상 1장 단위 결합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annotation_id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어노테이션 ID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문자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Annotation-id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결합키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영상 1장 단위 ID · 앞자리 0 유지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patient_key_est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추정 개체 ID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문자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Species+Hospital-id+Birth+Sex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C4A6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파생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결합키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가상 데이터 patient_id와 같은 조합 규칙 (개체 단위)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species_cd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축종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범주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Species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층별화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 고양이 / D 강아지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sex_cd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성별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범주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Sex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C4A6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파생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층별화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IM·CM → M / IF·SF → F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neuter_yn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중성화 여부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범주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Sex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C4A6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파생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층별화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CM·SF → Y / IM·IF → N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birth_dt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생년월일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날짜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Birth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파생 원천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나이 계산용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age_years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촬영 당시 나이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숫자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 − Birth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C4A6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파생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층별화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연령대 구간으로 묶어 비교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hospital_cd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병원 코드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범주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Hospital-id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층별화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21개 병원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exam_dt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촬영일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날짜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층별화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2004~2021 · 정의서에 없어 신규 추가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img_view_cd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촬영 자세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범주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Position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층별화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 / ML / Lateral / VD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disease_group_cd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의심 질환군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범주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Disease-Name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층별화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Mu01 골격계종양 ~ Mu07 추간판질환 · '의심해서 찍은 질환군'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img_body_part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촬영 부위(추정)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범주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Disease-Name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C4A6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파생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층별화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질환군에서 부위 추정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abnormal_yn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이상소견 여부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범주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Disease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E7C7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 변수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ABN = 1 / NOR = 0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lesion_box_cnt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부위 표시 박스 수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숫자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n_boxes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C4A6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파생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보조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라벨 JSON annotations 개수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weight_kg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체중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숫자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patients.weight_kg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B03A2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가상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결합 검증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1.0~14.3kg · 투약 용량(mg/kg) 환산 기준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breed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품종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범주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patients.breed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B03A2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가상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결합 검증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 6종 · 고양이 4종 (실데이터에는 없음)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lab_*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혈액검사 수치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문자·숫자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lab_results.test_code · value · unit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B03A2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가상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결합 검증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6개 항목(WBC·HCT·PLT·ALT·BUN·CREA) · 원본 표기 14종 → 표준 코드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rx_*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처방 · 투약 이력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문자·숫자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prescriptions.drug · dose · days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B03A2E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가상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결합 검증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약물 5종 · 계열 4종 · 이상(ABN) 영상 736건에만 처방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3" name="Google Shape;573;p20"/>
          <p:cNvSpPr txBox="1"/>
          <p:nvPr/>
        </p:nvSpPr>
        <p:spPr>
          <a:xfrm>
            <a:off x="502920" y="6053328"/>
            <a:ext cx="11201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9 · 파생 6 · 가상 4</a:t>
            </a: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·   결합키: fileName = study_id (영상) · patient_key_est ↔ patient_id (개체) · 연결 실패 0건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1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1"/>
          <p:cNvSpPr txBox="1"/>
          <p:nvPr/>
        </p:nvSpPr>
        <p:spPr>
          <a:xfrm>
            <a:off x="713232" y="32918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프로젝트 수행 절차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1"/>
          <p:cNvSpPr txBox="1"/>
          <p:nvPr/>
        </p:nvSpPr>
        <p:spPr>
          <a:xfrm>
            <a:off x="502920" y="585216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 계획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1"/>
          <p:cNvSpPr txBox="1"/>
          <p:nvPr/>
        </p:nvSpPr>
        <p:spPr>
          <a:xfrm>
            <a:off x="502920" y="10515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Analysis Plan · 멀티모달 AI를 활용한 동물병원 판독 자동화 및 보호자 맞춤 설명문 제공 서비스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2" name="Google Shape;582;p21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graphicFrame>
        <p:nvGraphicFramePr>
          <p:cNvPr id="583" name="Google Shape;583;p21"/>
          <p:cNvGraphicFramePr/>
          <p:nvPr/>
        </p:nvGraphicFramePr>
        <p:xfrm>
          <a:off x="502920" y="19933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{CAA4FD32-8356-4CA7-A824-87DD62895576}</a:tableStyleId>
              </a:tblPr>
              <a:tblGrid>
                <a:gridCol w="1783075"/>
                <a:gridCol w="2331725"/>
                <a:gridCol w="2788925"/>
                <a:gridCol w="42976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분석 목적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분석 기법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 데이터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i="0" lang="en-US" sz="11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16283A"/>
                    </a:solidFill>
                  </a:tcPr>
                </a:tc>
              </a:tr>
              <a:tr h="105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통합 및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품질 확보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 매핑, ETL 파이프라인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 매핑, 결측·이상치 처리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i="0" lang="en-US" sz="95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실습데이터 - 반려동물 질병 진단 영상(근골격계)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i="0" lang="en-US" sz="95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실습용 가상 데이터(Dummy LIS/EMR)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4개 사업부 데이터를 결합키로 연결, 원천 변경 감지 및 재처리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검사·약물 코드 표준화, 단위 통일, 결측률 산출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8F9FA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특성 파악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(EDA · 층별화)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히스토그램, 막대그래프, Box Plot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Clustering, 세그멘테이션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i="0" lang="en-US" sz="95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실습데이터 - 반려동물 질병 진단 영상(근골격계)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i="0" lang="en-US" sz="95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실습용 가상 데이터(Dummy LIS/EMR)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연속형(체중·수치)·범주형(축종·진단명) 분포·이상치 확인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축종·질환군·응급 등급별 그룹화 및 특성 비교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그룹 간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차이 검증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t-test, Wilcoxon, Chi-square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i="0" lang="en-US" sz="95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실습데이터 - 반려동물 질병 진단 영상(근골격계)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진단명별 검사 수치, 응급 등급별 재원 일수 차이의 통계적 유의성 확인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8F9FA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판독 보조 모델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구축 및 공유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로지스틱 회귀, 랜덤포레스트, XGBoost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 구성, 리포트 자동화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i="0" lang="en-US" sz="950" u="none" cap="none" strike="noStrike">
                          <a:solidFill>
                            <a:srgbClr val="6B768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즉시 착수 데이터로 1차 파일럿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초안 채택률·반려율 예측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수의사용 판독 대시보드, 보호자 설명문 반응 리포트</a:t>
                      </a:r>
                      <a:endParaRPr sz="1400" u="none" cap="none" strike="noStrike"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83A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2"/>
          <p:cNvSpPr txBox="1"/>
          <p:nvPr/>
        </p:nvSpPr>
        <p:spPr>
          <a:xfrm>
            <a:off x="1005840" y="2286000"/>
            <a:ext cx="2011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</a:pPr>
            <a:r>
              <a:rPr b="1" i="0" lang="en-US" sz="76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2"/>
          <p:cNvSpPr txBox="1"/>
          <p:nvPr/>
        </p:nvSpPr>
        <p:spPr>
          <a:xfrm>
            <a:off x="3017520" y="2606040"/>
            <a:ext cx="822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결과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3"/>
          <p:cNvSpPr/>
          <p:nvPr/>
        </p:nvSpPr>
        <p:spPr>
          <a:xfrm>
            <a:off x="502921" y="384048"/>
            <a:ext cx="82200" cy="82200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 txBox="1"/>
          <p:nvPr/>
        </p:nvSpPr>
        <p:spPr>
          <a:xfrm>
            <a:off x="502921" y="585216"/>
            <a:ext cx="1069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데이터 개요 — 반려동물 근골격계 X-ray 라벨 16,618장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3"/>
          <p:cNvSpPr txBox="1"/>
          <p:nvPr/>
        </p:nvSpPr>
        <p:spPr>
          <a:xfrm>
            <a:off x="502921" y="1051560"/>
            <a:ext cx="10698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musculoskeletal_labels.csv 원자료 기준 요약 · 결측치 0건 · 중복행 0건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7" name="Google Shape;597;p23"/>
          <p:cNvCxnSpPr/>
          <p:nvPr/>
        </p:nvCxnSpPr>
        <p:spPr>
          <a:xfrm>
            <a:off x="502921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98" name="Google Shape;598;p23"/>
          <p:cNvSpPr/>
          <p:nvPr/>
        </p:nvSpPr>
        <p:spPr>
          <a:xfrm>
            <a:off x="502921" y="1874519"/>
            <a:ext cx="2679300" cy="141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3"/>
          <p:cNvSpPr/>
          <p:nvPr/>
        </p:nvSpPr>
        <p:spPr>
          <a:xfrm>
            <a:off x="502921" y="1874519"/>
            <a:ext cx="54900" cy="1417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 txBox="1"/>
          <p:nvPr/>
        </p:nvSpPr>
        <p:spPr>
          <a:xfrm>
            <a:off x="704089" y="2002535"/>
            <a:ext cx="23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16,618건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3"/>
          <p:cNvSpPr txBox="1"/>
          <p:nvPr/>
        </p:nvSpPr>
        <p:spPr>
          <a:xfrm>
            <a:off x="704089" y="2907791"/>
            <a:ext cx="231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레코드 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3"/>
          <p:cNvSpPr/>
          <p:nvPr/>
        </p:nvSpPr>
        <p:spPr>
          <a:xfrm>
            <a:off x="3310135" y="1874519"/>
            <a:ext cx="2679300" cy="141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3"/>
          <p:cNvSpPr/>
          <p:nvPr/>
        </p:nvSpPr>
        <p:spPr>
          <a:xfrm>
            <a:off x="3310135" y="1874519"/>
            <a:ext cx="54900" cy="1417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3"/>
          <p:cNvSpPr txBox="1"/>
          <p:nvPr/>
        </p:nvSpPr>
        <p:spPr>
          <a:xfrm>
            <a:off x="3511303" y="2002535"/>
            <a:ext cx="23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13개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3"/>
          <p:cNvSpPr txBox="1"/>
          <p:nvPr/>
        </p:nvSpPr>
        <p:spPr>
          <a:xfrm>
            <a:off x="3511303" y="2907791"/>
            <a:ext cx="231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변수(컬럼) 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3"/>
          <p:cNvSpPr/>
          <p:nvPr/>
        </p:nvSpPr>
        <p:spPr>
          <a:xfrm>
            <a:off x="6117349" y="1874519"/>
            <a:ext cx="2679300" cy="141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/>
          <p:nvPr/>
        </p:nvSpPr>
        <p:spPr>
          <a:xfrm>
            <a:off x="6117349" y="1874519"/>
            <a:ext cx="54900" cy="1417200"/>
          </a:xfrm>
          <a:prstGeom prst="rect">
            <a:avLst/>
          </a:prstGeom>
          <a:solidFill>
            <a:srgbClr val="2C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3"/>
          <p:cNvSpPr txBox="1"/>
          <p:nvPr/>
        </p:nvSpPr>
        <p:spPr>
          <a:xfrm>
            <a:off x="6318517" y="2002535"/>
            <a:ext cx="231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 15,014 · 고양이 1,604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3"/>
          <p:cNvSpPr txBox="1"/>
          <p:nvPr/>
        </p:nvSpPr>
        <p:spPr>
          <a:xfrm>
            <a:off x="6318517" y="2907791"/>
            <a:ext cx="231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종(Species) 구성 (9.4 :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3"/>
          <p:cNvSpPr/>
          <p:nvPr/>
        </p:nvSpPr>
        <p:spPr>
          <a:xfrm>
            <a:off x="8924562" y="1874519"/>
            <a:ext cx="2679300" cy="141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3"/>
          <p:cNvSpPr/>
          <p:nvPr/>
        </p:nvSpPr>
        <p:spPr>
          <a:xfrm>
            <a:off x="8924562" y="1874519"/>
            <a:ext cx="54900" cy="1417200"/>
          </a:xfrm>
          <a:prstGeom prst="rect">
            <a:avLst/>
          </a:prstGeom>
          <a:solidFill>
            <a:srgbClr val="2C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3"/>
          <p:cNvSpPr txBox="1"/>
          <p:nvPr/>
        </p:nvSpPr>
        <p:spPr>
          <a:xfrm>
            <a:off x="9125731" y="2002535"/>
            <a:ext cx="231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14,868 · 비정상 1,750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3"/>
          <p:cNvSpPr txBox="1"/>
          <p:nvPr/>
        </p:nvSpPr>
        <p:spPr>
          <a:xfrm>
            <a:off x="9125731" y="2907791"/>
            <a:ext cx="231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질환(Disease) 구성 (8.5 :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3"/>
          <p:cNvSpPr/>
          <p:nvPr/>
        </p:nvSpPr>
        <p:spPr>
          <a:xfrm>
            <a:off x="502921" y="3419855"/>
            <a:ext cx="2679300" cy="141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3"/>
          <p:cNvSpPr/>
          <p:nvPr/>
        </p:nvSpPr>
        <p:spPr>
          <a:xfrm>
            <a:off x="502921" y="3419855"/>
            <a:ext cx="54900" cy="1417200"/>
          </a:xfrm>
          <a:prstGeom prst="rect">
            <a:avLst/>
          </a:prstGeom>
          <a:solidFill>
            <a:srgbClr val="6B7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3"/>
          <p:cNvSpPr txBox="1"/>
          <p:nvPr/>
        </p:nvSpPr>
        <p:spPr>
          <a:xfrm>
            <a:off x="704089" y="3547871"/>
            <a:ext cx="23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21개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3"/>
          <p:cNvSpPr txBox="1"/>
          <p:nvPr/>
        </p:nvSpPr>
        <p:spPr>
          <a:xfrm>
            <a:off x="704089" y="4453127"/>
            <a:ext cx="231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기관(Hospital-id) 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3"/>
          <p:cNvSpPr/>
          <p:nvPr/>
        </p:nvSpPr>
        <p:spPr>
          <a:xfrm>
            <a:off x="3310135" y="3419855"/>
            <a:ext cx="2679300" cy="141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3"/>
          <p:cNvSpPr/>
          <p:nvPr/>
        </p:nvSpPr>
        <p:spPr>
          <a:xfrm>
            <a:off x="3310135" y="3419855"/>
            <a:ext cx="54900" cy="1417200"/>
          </a:xfrm>
          <a:prstGeom prst="rect">
            <a:avLst/>
          </a:prstGeom>
          <a:solidFill>
            <a:srgbClr val="6B7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3"/>
          <p:cNvSpPr txBox="1"/>
          <p:nvPr/>
        </p:nvSpPr>
        <p:spPr>
          <a:xfrm>
            <a:off x="3511303" y="3547871"/>
            <a:ext cx="231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2004-01-01 ~ 2021-12-28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3"/>
          <p:cNvSpPr txBox="1"/>
          <p:nvPr/>
        </p:nvSpPr>
        <p:spPr>
          <a:xfrm>
            <a:off x="3511303" y="4453127"/>
            <a:ext cx="231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촬영 기간 (약 18년)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3"/>
          <p:cNvSpPr/>
          <p:nvPr/>
        </p:nvSpPr>
        <p:spPr>
          <a:xfrm>
            <a:off x="6117349" y="3419855"/>
            <a:ext cx="2679300" cy="141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3"/>
          <p:cNvSpPr/>
          <p:nvPr/>
        </p:nvSpPr>
        <p:spPr>
          <a:xfrm>
            <a:off x="6117349" y="3419855"/>
            <a:ext cx="54900" cy="14172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3"/>
          <p:cNvSpPr txBox="1"/>
          <p:nvPr/>
        </p:nvSpPr>
        <p:spPr>
          <a:xfrm>
            <a:off x="6318517" y="3547871"/>
            <a:ext cx="23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AP·Lateral·ML·VD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3"/>
          <p:cNvSpPr txBox="1"/>
          <p:nvPr/>
        </p:nvSpPr>
        <p:spPr>
          <a:xfrm>
            <a:off x="6318517" y="4453127"/>
            <a:ext cx="231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촬영 자세(Position) 4종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3"/>
          <p:cNvSpPr/>
          <p:nvPr/>
        </p:nvSpPr>
        <p:spPr>
          <a:xfrm>
            <a:off x="8924562" y="3419855"/>
            <a:ext cx="2679300" cy="141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3"/>
          <p:cNvSpPr/>
          <p:nvPr/>
        </p:nvSpPr>
        <p:spPr>
          <a:xfrm>
            <a:off x="8924562" y="3419855"/>
            <a:ext cx="54900" cy="14172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3"/>
          <p:cNvSpPr txBox="1"/>
          <p:nvPr/>
        </p:nvSpPr>
        <p:spPr>
          <a:xfrm>
            <a:off x="9125731" y="3547871"/>
            <a:ext cx="231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평균 4.4세 (0~21.3세)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3"/>
          <p:cNvSpPr txBox="1"/>
          <p:nvPr/>
        </p:nvSpPr>
        <p:spPr>
          <a:xfrm>
            <a:off x="9125731" y="4453127"/>
            <a:ext cx="231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연령(age_years) 분포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3"/>
          <p:cNvSpPr txBox="1"/>
          <p:nvPr/>
        </p:nvSpPr>
        <p:spPr>
          <a:xfrm>
            <a:off x="502921" y="5029200"/>
            <a:ext cx="11201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본 데이터는 AI Hub 반려동물(개·고양이) 근골격계 질환 진단 영상 과제(Mission-id 62)의 라벨 메타데이터이며,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영상(DICOM/JSON) 원본은 별도 저장소에서 fileName 기준으로 연결된다.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모든 수치는 실습 샘플 16,618건 기준 (AI Hub 원본 160,142건의 약 10%) · 이상소견 1,750장(10.5%)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3"/>
          <p:cNvSpPr txBox="1"/>
          <p:nvPr/>
        </p:nvSpPr>
        <p:spPr>
          <a:xfrm>
            <a:off x="713232" y="329184"/>
            <a:ext cx="9144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프로젝트 수행 결과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4"/>
          <p:cNvSpPr/>
          <p:nvPr/>
        </p:nvSpPr>
        <p:spPr>
          <a:xfrm>
            <a:off x="502920" y="384048"/>
            <a:ext cx="82200" cy="82200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4"/>
          <p:cNvSpPr txBox="1"/>
          <p:nvPr/>
        </p:nvSpPr>
        <p:spPr>
          <a:xfrm>
            <a:off x="713232" y="329184"/>
            <a:ext cx="9144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프로젝트 수행 절차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4"/>
          <p:cNvSpPr txBox="1"/>
          <p:nvPr/>
        </p:nvSpPr>
        <p:spPr>
          <a:xfrm>
            <a:off x="502920" y="585216"/>
            <a:ext cx="11201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 계획 대비 수행 결과 — 검정은 계획보다 깊게, 모델링은 향후 과제로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4"/>
          <p:cNvSpPr txBox="1"/>
          <p:nvPr/>
        </p:nvSpPr>
        <p:spPr>
          <a:xfrm>
            <a:off x="502920" y="1051560"/>
            <a:ext cx="112014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Analysis Plan  ·  실데이터(근골격계 X-ray 라벨 16,618건) 확인 후 계획을 조정해 수행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24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graphicFrame>
        <p:nvGraphicFramePr>
          <p:cNvPr id="641" name="Google Shape;641;p24"/>
          <p:cNvGraphicFramePr/>
          <p:nvPr/>
        </p:nvGraphicFramePr>
        <p:xfrm>
          <a:off x="50292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{CAA4FD32-8356-4CA7-A824-87DD62895576}</a:tableStyleId>
              </a:tblPr>
              <a:tblGrid>
                <a:gridCol w="1783075"/>
                <a:gridCol w="2331725"/>
                <a:gridCol w="1691650"/>
                <a:gridCol w="4206250"/>
                <a:gridCol w="11887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분석 목적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분석 기법 (계획)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 데이터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 결과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① 데이터 통합 및</a:t>
                      </a:r>
                      <a:br>
                        <a:rPr b="1"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품질 확보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 매핑 · ETL</a:t>
                      </a:r>
                      <a:b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 표준화 · 단위 통일</a:t>
                      </a:r>
                      <a:b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결측 · 이상치 처리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근골격계 X-ray 라벨</a:t>
                      </a:r>
                      <a:b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가상 LIS/EMR 데이터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라벨 JSON 16,618건 → 분석용 CSV 정제, 나이 파생, 결측 · 범위 점검</a:t>
                      </a:r>
                      <a:b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 표준화 · 단위 통일 · 결측 처리는 가상 데이터로 시연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일부 수행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2C4A6B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② 데이터 특성 파악</a:t>
                      </a:r>
                      <a:br>
                        <a:rPr b="1"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(EDA · 층별화)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막대 · 히스토그램 · Box Plot</a:t>
                      </a:r>
                      <a:b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Clustering · 세그멘테이션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근골격계 X-ray 라벨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질환군 · 축종 · 성별 · 중성화 · 나이대 · 병원 · 촬영 자세 · 연도별 이상률 비교, 그래프 3종</a:t>
                      </a:r>
                      <a:b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체중 · 검사수치가 없어 연속형 분포 · 클러스터링은 미수행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범주형 수행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0E7C7B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③ 그룹 간</a:t>
                      </a:r>
                      <a:br>
                        <a:rPr b="1"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차이 검증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t-test · Wilcoxon</a:t>
                      </a:r>
                      <a:b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Chi-square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근골격계 X-ray 라벨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카이제곱 + 크래머 V(관련 강도)로 8개 변수 비교</a:t>
                      </a:r>
                      <a:b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촬영 자세 교란 점검 · 병원별 O/E(질환군 · 축종 보정) 추가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계획 이상 수행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0E7C7B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④ 판독 보조 모델</a:t>
                      </a:r>
                      <a:br>
                        <a:rPr b="1"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구축 및 공유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로지스틱 회귀 · 랜덤포레스트</a:t>
                      </a:r>
                      <a:b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XGBoost · 대시보드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같은 개체의 영상 + 검사 + 투약 실데이터가 없어 이번 범위에서 제외</a:t>
                      </a:r>
                      <a:b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100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→ 협력 병원 데이터 확보 후 1단계 선별 파일럿에서 구축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향후 과제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8A97A3"/>
                    </a:solidFill>
                  </a:tcPr>
                </a:tc>
              </a:tr>
            </a:tbl>
          </a:graphicData>
        </a:graphic>
      </p:graphicFrame>
      <p:sp>
        <p:nvSpPr>
          <p:cNvPr id="642" name="Google Shape;642;p24"/>
          <p:cNvSpPr txBox="1"/>
          <p:nvPr/>
        </p:nvSpPr>
        <p:spPr>
          <a:xfrm>
            <a:off x="502920" y="5394960"/>
            <a:ext cx="11201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계획서의 '개 생체 신호(Scientific Data)'는 이번 분석에 사용하지 않음  ·  가상 데이터 수치는 분석 결론에 사용하지 않음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4"/>
          <p:cNvSpPr/>
          <p:nvPr/>
        </p:nvSpPr>
        <p:spPr>
          <a:xfrm>
            <a:off x="502920" y="5897880"/>
            <a:ext cx="11201400" cy="5670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4"/>
          <p:cNvSpPr txBox="1"/>
          <p:nvPr/>
        </p:nvSpPr>
        <p:spPr>
          <a:xfrm>
            <a:off x="777240" y="6053744"/>
            <a:ext cx="106527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②·③은 실데이터로 수행, ①은 실데이터 정제 + 가상 데이터로 결합 구조 검증, ④는 실데이터 확보 후의 과제로 남겼다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5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5"/>
          <p:cNvSpPr txBox="1"/>
          <p:nvPr/>
        </p:nvSpPr>
        <p:spPr>
          <a:xfrm>
            <a:off x="713232" y="32918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프로젝트 수행 결과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5"/>
          <p:cNvSpPr txBox="1"/>
          <p:nvPr/>
        </p:nvSpPr>
        <p:spPr>
          <a:xfrm>
            <a:off x="502920" y="585216"/>
            <a:ext cx="11201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1 —  질환군별 이상률은 최대 150배 차이, 이상소견의 67%가 슬개골탈구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5"/>
          <p:cNvSpPr txBox="1"/>
          <p:nvPr/>
        </p:nvSpPr>
        <p:spPr>
          <a:xfrm>
            <a:off x="502920" y="1051560"/>
            <a:ext cx="1120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질환군(의심해서 찍은 부위)별 이상소견 비율  ·  실습 샘플 16,618장 기준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p25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47f193bc-image.png" id="654" name="Google Shape;6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600200"/>
            <a:ext cx="7680960" cy="432054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25"/>
          <p:cNvSpPr/>
          <p:nvPr/>
        </p:nvSpPr>
        <p:spPr>
          <a:xfrm>
            <a:off x="8458200" y="1645920"/>
            <a:ext cx="3246119" cy="102412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5"/>
          <p:cNvSpPr txBox="1"/>
          <p:nvPr/>
        </p:nvSpPr>
        <p:spPr>
          <a:xfrm>
            <a:off x="8641080" y="1719072"/>
            <a:ext cx="29717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47.2%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5"/>
          <p:cNvSpPr txBox="1"/>
          <p:nvPr/>
        </p:nvSpPr>
        <p:spPr>
          <a:xfrm>
            <a:off x="8641080" y="2249424"/>
            <a:ext cx="297179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슬개골탈구 이상률 (1,180 / 2,500)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5"/>
          <p:cNvSpPr/>
          <p:nvPr/>
        </p:nvSpPr>
        <p:spPr>
          <a:xfrm>
            <a:off x="8458200" y="2788920"/>
            <a:ext cx="3246119" cy="102412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5"/>
          <p:cNvSpPr txBox="1"/>
          <p:nvPr/>
        </p:nvSpPr>
        <p:spPr>
          <a:xfrm>
            <a:off x="8641080" y="2862072"/>
            <a:ext cx="29717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6283A"/>
                </a:solidFill>
                <a:latin typeface="Malgun Gothic"/>
                <a:ea typeface="Malgun Gothic"/>
                <a:cs typeface="Malgun Gothic"/>
                <a:sym typeface="Malgun Gothic"/>
              </a:rPr>
              <a:t>67%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5"/>
          <p:cNvSpPr txBox="1"/>
          <p:nvPr/>
        </p:nvSpPr>
        <p:spPr>
          <a:xfrm>
            <a:off x="8641080" y="3392424"/>
            <a:ext cx="297179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이상소견 1,750장 중 슬개골탈구 비중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5"/>
          <p:cNvSpPr/>
          <p:nvPr/>
        </p:nvSpPr>
        <p:spPr>
          <a:xfrm>
            <a:off x="8458200" y="3931920"/>
            <a:ext cx="3246119" cy="102412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5"/>
          <p:cNvSpPr txBox="1"/>
          <p:nvPr/>
        </p:nvSpPr>
        <p:spPr>
          <a:xfrm>
            <a:off x="8641080" y="4005072"/>
            <a:ext cx="29717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5"/>
          <p:cNvSpPr txBox="1"/>
          <p:nvPr/>
        </p:nvSpPr>
        <p:spPr>
          <a:xfrm>
            <a:off x="8641080" y="4535424"/>
            <a:ext cx="297179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골격계종양 이상률 (8 / 2,463) — 드물지만 고위험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5"/>
          <p:cNvSpPr/>
          <p:nvPr/>
        </p:nvSpPr>
        <p:spPr>
          <a:xfrm>
            <a:off x="502920" y="5897880"/>
            <a:ext cx="11201400" cy="56692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5"/>
          <p:cNvSpPr txBox="1"/>
          <p:nvPr/>
        </p:nvSpPr>
        <p:spPr>
          <a:xfrm>
            <a:off x="777240" y="5897880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먼저 볼 영상을 골라주는 선별 기능 + 드문 고위험(종양)을 놓치지 않는 안전망이 필요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6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6"/>
          <p:cNvSpPr txBox="1"/>
          <p:nvPr/>
        </p:nvSpPr>
        <p:spPr>
          <a:xfrm>
            <a:off x="713232" y="32918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프로젝트 수행 결과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6"/>
          <p:cNvSpPr txBox="1"/>
          <p:nvPr/>
        </p:nvSpPr>
        <p:spPr>
          <a:xfrm>
            <a:off x="502920" y="585216"/>
            <a:ext cx="11201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2 — 나이 · 성별 · 중성화만으로는 이상 여부를 거의 가려낼 수 없다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6"/>
          <p:cNvSpPr txBox="1"/>
          <p:nvPr/>
        </p:nvSpPr>
        <p:spPr>
          <a:xfrm>
            <a:off x="502920" y="1051560"/>
            <a:ext cx="1120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변수별 이상 여부와의 관련 강도 (크래머 V)  ·  실습 샘플 16,618장 기준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4" name="Google Shape;674;p26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86a5c888-image.png" id="675" name="Google Shape;6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600200"/>
            <a:ext cx="7680960" cy="432054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26"/>
          <p:cNvSpPr/>
          <p:nvPr/>
        </p:nvSpPr>
        <p:spPr>
          <a:xfrm>
            <a:off x="8458200" y="1645920"/>
            <a:ext cx="3246119" cy="102412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6"/>
          <p:cNvSpPr txBox="1"/>
          <p:nvPr/>
        </p:nvSpPr>
        <p:spPr>
          <a:xfrm>
            <a:off x="8641080" y="1719072"/>
            <a:ext cx="29717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C4A6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0.513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6"/>
          <p:cNvSpPr txBox="1"/>
          <p:nvPr/>
        </p:nvSpPr>
        <p:spPr>
          <a:xfrm>
            <a:off x="8641080" y="2249424"/>
            <a:ext cx="297179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질환군 — 가장 강한 관련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6"/>
          <p:cNvSpPr/>
          <p:nvPr/>
        </p:nvSpPr>
        <p:spPr>
          <a:xfrm>
            <a:off x="8458200" y="2788920"/>
            <a:ext cx="3246119" cy="102412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6"/>
          <p:cNvSpPr txBox="1"/>
          <p:nvPr/>
        </p:nvSpPr>
        <p:spPr>
          <a:xfrm>
            <a:off x="8641080" y="2862072"/>
            <a:ext cx="29717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 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6"/>
          <p:cNvSpPr txBox="1"/>
          <p:nvPr/>
        </p:nvSpPr>
        <p:spPr>
          <a:xfrm>
            <a:off x="8641080" y="3392424"/>
            <a:ext cx="297179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나이대 0.070 · 성별 0.045 · 중성화 0.039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8458200" y="3931920"/>
            <a:ext cx="3246119" cy="102412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6"/>
          <p:cNvSpPr txBox="1"/>
          <p:nvPr/>
        </p:nvSpPr>
        <p:spPr>
          <a:xfrm>
            <a:off x="8641080" y="4005072"/>
            <a:ext cx="29717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8A97A3"/>
                </a:solidFill>
                <a:latin typeface="Malgun Gothic"/>
                <a:ea typeface="Malgun Gothic"/>
                <a:cs typeface="Malgun Gothic"/>
                <a:sym typeface="Malgun Gothic"/>
              </a:rPr>
              <a:t>0.334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6"/>
          <p:cNvSpPr txBox="1"/>
          <p:nvPr/>
        </p:nvSpPr>
        <p:spPr>
          <a:xfrm>
            <a:off x="8641080" y="4535424"/>
            <a:ext cx="297179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촬영 자세 — 질환군에 의한 교란으로 제외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6"/>
          <p:cNvSpPr txBox="1"/>
          <p:nvPr/>
        </p:nvSpPr>
        <p:spPr>
          <a:xfrm>
            <a:off x="8458200" y="5093207"/>
            <a:ext cx="3246119" cy="731519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크래머 V = 관련 강도(0~1), 0.1 미만은 약함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6"/>
          <p:cNvSpPr/>
          <p:nvPr/>
        </p:nvSpPr>
        <p:spPr>
          <a:xfrm>
            <a:off x="502920" y="5897880"/>
            <a:ext cx="11201400" cy="56692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6"/>
          <p:cNvSpPr txBox="1"/>
          <p:nvPr/>
        </p:nvSpPr>
        <p:spPr>
          <a:xfrm>
            <a:off x="777240" y="5897880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기본 정보로는 구분이 안 된다 — 영상 + 검사 + 투약을 함께 보는 멀티모달이 필요한 데이터 근거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7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7"/>
          <p:cNvSpPr txBox="1"/>
          <p:nvPr/>
        </p:nvSpPr>
        <p:spPr>
          <a:xfrm>
            <a:off x="713232" y="32918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프로젝트 수행 결과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7"/>
          <p:cNvSpPr txBox="1"/>
          <p:nvPr/>
        </p:nvSpPr>
        <p:spPr>
          <a:xfrm>
            <a:off x="502920" y="585216"/>
            <a:ext cx="11201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3 — 질환군 · 축종을 감안해도 대형 병원 간 이상 판정률이 최대 3.8배 차이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7"/>
          <p:cNvSpPr txBox="1"/>
          <p:nvPr/>
        </p:nvSpPr>
        <p:spPr>
          <a:xfrm>
            <a:off x="502920" y="1051560"/>
            <a:ext cx="1120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병원별 O/E (실제 이상률 ÷ 기대 이상률)  ·  100장 이상 촬영 병원 13곳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6" name="Google Shape;696;p27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c2cc3a77-image.png" id="697" name="Google Shape;69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600200"/>
            <a:ext cx="6281928" cy="432054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27"/>
          <p:cNvSpPr/>
          <p:nvPr/>
        </p:nvSpPr>
        <p:spPr>
          <a:xfrm>
            <a:off x="7059168" y="1645920"/>
            <a:ext cx="4645152" cy="102412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7"/>
          <p:cNvSpPr txBox="1"/>
          <p:nvPr/>
        </p:nvSpPr>
        <p:spPr>
          <a:xfrm>
            <a:off x="7242048" y="1719072"/>
            <a:ext cx="43708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C4A6B"/>
                </a:solidFill>
                <a:latin typeface="Malgun Gothic"/>
                <a:ea typeface="Malgun Gothic"/>
                <a:cs typeface="Malgun Gothic"/>
                <a:sym typeface="Malgun Gothic"/>
              </a:rPr>
              <a:t>3.8배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7"/>
          <p:cNvSpPr txBox="1"/>
          <p:nvPr/>
        </p:nvSpPr>
        <p:spPr>
          <a:xfrm>
            <a:off x="7242048" y="2249424"/>
            <a:ext cx="4370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대형 병원(1,000장↑) 간 최대 차이 (1.52 vs 0.40)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7"/>
          <p:cNvSpPr/>
          <p:nvPr/>
        </p:nvSpPr>
        <p:spPr>
          <a:xfrm>
            <a:off x="7059168" y="2788920"/>
            <a:ext cx="4645152" cy="102412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7"/>
          <p:cNvSpPr txBox="1"/>
          <p:nvPr/>
        </p:nvSpPr>
        <p:spPr>
          <a:xfrm>
            <a:off x="7242048" y="2862072"/>
            <a:ext cx="43708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25배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7"/>
          <p:cNvSpPr txBox="1"/>
          <p:nvPr/>
        </p:nvSpPr>
        <p:spPr>
          <a:xfrm>
            <a:off x="7242048" y="3392424"/>
            <a:ext cx="4370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100장↑ 병원 전체 최대 차이 (2.28 vs 0.09)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7"/>
          <p:cNvSpPr/>
          <p:nvPr/>
        </p:nvSpPr>
        <p:spPr>
          <a:xfrm>
            <a:off x="7059168" y="3931920"/>
            <a:ext cx="4645152" cy="102412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7"/>
          <p:cNvSpPr txBox="1"/>
          <p:nvPr/>
        </p:nvSpPr>
        <p:spPr>
          <a:xfrm>
            <a:off x="7242048" y="4005072"/>
            <a:ext cx="43708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편차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7"/>
          <p:cNvSpPr txBox="1"/>
          <p:nvPr/>
        </p:nvSpPr>
        <p:spPr>
          <a:xfrm>
            <a:off x="7242048" y="4535424"/>
            <a:ext cx="4370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오진이 아니라 병원마다 다른 판정 기준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7"/>
          <p:cNvSpPr txBox="1"/>
          <p:nvPr/>
        </p:nvSpPr>
        <p:spPr>
          <a:xfrm>
            <a:off x="7059168" y="5093207"/>
            <a:ext cx="4645152" cy="731519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O/E = 실제 이상률 ÷ 기대 이상률 (질환군 · 축종 구성 기준)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100장 미만 병원 제외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7"/>
          <p:cNvSpPr/>
          <p:nvPr/>
        </p:nvSpPr>
        <p:spPr>
          <a:xfrm>
            <a:off x="502920" y="5897880"/>
            <a:ext cx="11201400" cy="56692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7"/>
          <p:cNvSpPr txBox="1"/>
          <p:nvPr/>
        </p:nvSpPr>
        <p:spPr>
          <a:xfrm>
            <a:off x="777240" y="5897880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병원 간 공통 기준선이 되는 판독 보조(표준화)가 필요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8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8"/>
          <p:cNvSpPr txBox="1"/>
          <p:nvPr/>
        </p:nvSpPr>
        <p:spPr>
          <a:xfrm>
            <a:off x="713232" y="32918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프로젝트 수행 결과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8"/>
          <p:cNvSpPr txBox="1"/>
          <p:nvPr/>
        </p:nvSpPr>
        <p:spPr>
          <a:xfrm>
            <a:off x="502920" y="585216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신뢰도 점검 — 교란 변수는 걸러내고, 데이터 한계는 드러낸다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8"/>
          <p:cNvSpPr txBox="1"/>
          <p:nvPr/>
        </p:nvSpPr>
        <p:spPr>
          <a:xfrm>
            <a:off x="502920" y="1051560"/>
            <a:ext cx="1120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결과를 그대로 믿기 전에 확인한 두 가지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8" name="Google Shape;718;p28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19" name="Google Shape;719;p28"/>
          <p:cNvSpPr/>
          <p:nvPr/>
        </p:nvSpPr>
        <p:spPr>
          <a:xfrm>
            <a:off x="502920" y="1691640"/>
            <a:ext cx="5486400" cy="397763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8"/>
          <p:cNvSpPr txBox="1"/>
          <p:nvPr/>
        </p:nvSpPr>
        <p:spPr>
          <a:xfrm>
            <a:off x="777240" y="181051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신뢰도 점검 · 촬영 자세 교란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8"/>
          <p:cNvSpPr/>
          <p:nvPr/>
        </p:nvSpPr>
        <p:spPr>
          <a:xfrm>
            <a:off x="777240" y="2331720"/>
            <a:ext cx="233172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8"/>
          <p:cNvSpPr txBox="1"/>
          <p:nvPr/>
        </p:nvSpPr>
        <p:spPr>
          <a:xfrm>
            <a:off x="914400" y="2395728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99%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8"/>
          <p:cNvSpPr txBox="1"/>
          <p:nvPr/>
        </p:nvSpPr>
        <p:spPr>
          <a:xfrm>
            <a:off x="914400" y="30175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슬개골 촬영은 AP 자세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8"/>
          <p:cNvSpPr/>
          <p:nvPr/>
        </p:nvSpPr>
        <p:spPr>
          <a:xfrm>
            <a:off x="3337560" y="2331720"/>
            <a:ext cx="233172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8"/>
          <p:cNvSpPr txBox="1"/>
          <p:nvPr/>
        </p:nvSpPr>
        <p:spPr>
          <a:xfrm>
            <a:off x="3474720" y="2395728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99%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8"/>
          <p:cNvSpPr txBox="1"/>
          <p:nvPr/>
        </p:nvSpPr>
        <p:spPr>
          <a:xfrm>
            <a:off x="3474720" y="30175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척추 촬영은 Lateral 자세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8"/>
          <p:cNvSpPr txBox="1"/>
          <p:nvPr/>
        </p:nvSpPr>
        <p:spPr>
          <a:xfrm>
            <a:off x="777240" y="379476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질환군마다 촬영 자세가 거의 고정되어 있다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자세의 관련 강도(0.334)는 자세 자체가 아니라 질환군이 만든 착시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교란으로 판단해 해석에서 제외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8"/>
          <p:cNvSpPr/>
          <p:nvPr/>
        </p:nvSpPr>
        <p:spPr>
          <a:xfrm>
            <a:off x="6217920" y="1691640"/>
            <a:ext cx="5486400" cy="397763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8"/>
          <p:cNvSpPr txBox="1"/>
          <p:nvPr/>
        </p:nvSpPr>
        <p:spPr>
          <a:xfrm>
            <a:off x="6492240" y="181051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한계 · 고양이 표본 부족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8"/>
          <p:cNvSpPr/>
          <p:nvPr/>
        </p:nvSpPr>
        <p:spPr>
          <a:xfrm>
            <a:off x="6492240" y="2331720"/>
            <a:ext cx="233172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8"/>
          <p:cNvSpPr txBox="1"/>
          <p:nvPr/>
        </p:nvSpPr>
        <p:spPr>
          <a:xfrm>
            <a:off x="6629400" y="2395728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26건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8"/>
          <p:cNvSpPr txBox="1"/>
          <p:nvPr/>
        </p:nvSpPr>
        <p:spPr>
          <a:xfrm>
            <a:off x="6629400" y="30175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고양이 이상소견 (1,604장 중 1.6%)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8"/>
          <p:cNvSpPr/>
          <p:nvPr/>
        </p:nvSpPr>
        <p:spPr>
          <a:xfrm>
            <a:off x="9052559" y="2331720"/>
            <a:ext cx="233172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8"/>
          <p:cNvSpPr txBox="1"/>
          <p:nvPr/>
        </p:nvSpPr>
        <p:spPr>
          <a:xfrm>
            <a:off x="9189719" y="2395728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8"/>
          <p:cNvSpPr txBox="1"/>
          <p:nvPr/>
        </p:nvSpPr>
        <p:spPr>
          <a:xfrm>
            <a:off x="9189719" y="30175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건강정보 중 고양이 비중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8"/>
          <p:cNvSpPr txBox="1"/>
          <p:nvPr/>
        </p:nvSpPr>
        <p:spPr>
          <a:xfrm>
            <a:off x="6492240" y="379476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고양이는 이상 판정 패턴을 따로 분석하기 어려운 규모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공개 데이터로는 채울 수 없는 공백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자사 610개소의 고양이 데이터 확보 자체가 경쟁력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8"/>
          <p:cNvSpPr/>
          <p:nvPr/>
        </p:nvSpPr>
        <p:spPr>
          <a:xfrm>
            <a:off x="502920" y="5897880"/>
            <a:ext cx="11201400" cy="56692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8"/>
          <p:cNvSpPr txBox="1"/>
          <p:nvPr/>
        </p:nvSpPr>
        <p:spPr>
          <a:xfrm>
            <a:off x="777240" y="5897880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실데이터에는 같은 개체의 혈액 · 처방이 없다 — 그래서 결합 구조는 가상 데이터로 먼저 검증했다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9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9"/>
          <p:cNvSpPr txBox="1"/>
          <p:nvPr/>
        </p:nvSpPr>
        <p:spPr>
          <a:xfrm>
            <a:off x="713232" y="32918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프로젝트 수행 결과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9"/>
          <p:cNvSpPr txBox="1"/>
          <p:nvPr/>
        </p:nvSpPr>
        <p:spPr>
          <a:xfrm>
            <a:off x="502920" y="585216"/>
            <a:ext cx="11201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데이터 결합 구조 시연 — 한 마리의 개체가 ID를 따라 영상 · 혈액 · 처방으로 이어진다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9"/>
          <p:cNvSpPr txBox="1"/>
          <p:nvPr/>
        </p:nvSpPr>
        <p:spPr>
          <a:xfrm>
            <a:off x="502920" y="1051560"/>
            <a:ext cx="1120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가상 데이터로 결합 구조 검증  ·  더미 노트북에서 실제 한 마리를 골라 만든 예시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7" name="Google Shape;747;p29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graphicFrame>
        <p:nvGraphicFramePr>
          <p:cNvPr id="748" name="Google Shape;748;p29"/>
          <p:cNvGraphicFramePr/>
          <p:nvPr/>
        </p:nvGraphicFramePr>
        <p:xfrm>
          <a:off x="50292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{CAA4FD32-8356-4CA7-A824-87DD62895576}</a:tableStyleId>
              </a:tblPr>
              <a:tblGrid>
                <a:gridCol w="1097275"/>
                <a:gridCol w="1828800"/>
                <a:gridCol w="2240275"/>
                <a:gridCol w="603505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단계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테이블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결합키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예시  (D_20150929_IF_0028_0295)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① 개체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patients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6E7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patient_id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 · 암컷(IF) · 병원 0028 · 8.5kg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② 영상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imaging_studies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6E7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patient_id → study_id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2020-03-06 촬영 · AP · 이상(ABN) · 슬개골탈구(Mu05)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③ 혈액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lab_results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6E7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study_id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WBC 14.58 · HCT 48.17 · PLT 163.84 · ALT 12.91 · BUN 20.47 · CREA 1.04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④ 처방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prescriptions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6E7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study_id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Carprofen(NSAID) 3.66mg/kg 5일 · Tramadol(Opioid) 2.64mg/kg 3일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49" name="Google Shape;749;p29"/>
          <p:cNvSpPr/>
          <p:nvPr/>
        </p:nvSpPr>
        <p:spPr>
          <a:xfrm>
            <a:off x="502920" y="4663440"/>
            <a:ext cx="11201400" cy="640080"/>
          </a:xfrm>
          <a:prstGeom prst="rect">
            <a:avLst/>
          </a:prstGeom>
          <a:solidFill>
            <a:srgbClr val="CDE7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9"/>
          <p:cNvSpPr txBox="1"/>
          <p:nvPr/>
        </p:nvSpPr>
        <p:spPr>
          <a:xfrm>
            <a:off x="731520" y="466344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 하나(study_id)에 그날의 혈액검사와 처방이 붙고, 개체 하나(patient_id)에는 영상이 여러 장 붙는다 (1 : 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9"/>
          <p:cNvSpPr txBox="1"/>
          <p:nvPr/>
        </p:nvSpPr>
        <p:spPr>
          <a:xfrm>
            <a:off x="502920" y="5413248"/>
            <a:ext cx="1120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가상 데이터로 결합 구조 검증 — 영상 라벨 형식만 AI Hub 근골격계 실데이터와 같고, 혈액 · 처방은 가상 값입니다.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9"/>
          <p:cNvSpPr/>
          <p:nvPr/>
        </p:nvSpPr>
        <p:spPr>
          <a:xfrm>
            <a:off x="502920" y="5897880"/>
            <a:ext cx="11201400" cy="566928"/>
          </a:xfrm>
          <a:prstGeom prst="rect">
            <a:avLst/>
          </a:prstGeom>
          <a:solidFill>
            <a:srgbClr val="0B5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9"/>
          <p:cNvSpPr txBox="1"/>
          <p:nvPr/>
        </p:nvSpPr>
        <p:spPr>
          <a:xfrm>
            <a:off x="777240" y="5897880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가상 데이터 기반 파이프라인 검증 · 수치는 분석 결론에 사용하지 않음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0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0"/>
          <p:cNvSpPr txBox="1"/>
          <p:nvPr/>
        </p:nvSpPr>
        <p:spPr>
          <a:xfrm>
            <a:off x="713232" y="32918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프로젝트 수행 결과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0"/>
          <p:cNvSpPr txBox="1"/>
          <p:nvPr/>
        </p:nvSpPr>
        <p:spPr>
          <a:xfrm>
            <a:off x="502920" y="585216"/>
            <a:ext cx="11201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코드 표준화 — 병원마다 다른 표기를 표준 코드 · 단위로 통일한 뒤 결합한다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30"/>
          <p:cNvSpPr txBox="1"/>
          <p:nvPr/>
        </p:nvSpPr>
        <p:spPr>
          <a:xfrm>
            <a:off x="502920" y="1051560"/>
            <a:ext cx="1120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가상 데이터로 결합 구조 검증  ·  분석계획서의 검사 코드 표준화 · 단위 통일 시연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2" name="Google Shape;762;p30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graphicFrame>
        <p:nvGraphicFramePr>
          <p:cNvPr id="763" name="Google Shape;763;p30"/>
          <p:cNvGraphicFramePr/>
          <p:nvPr/>
        </p:nvGraphicFramePr>
        <p:xfrm>
          <a:off x="50292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{CAA4FD32-8356-4CA7-A824-87DD62895576}</a:tableStyleId>
              </a:tblPr>
              <a:tblGrid>
                <a:gridCol w="1280150"/>
                <a:gridCol w="2743200"/>
                <a:gridCol w="29260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표준 코드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원본 표기 (병원마다 다름)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표준 단위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16283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6E7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WBC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WBC · wbc · 백혈구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K/uL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6E7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HCT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HCT · PCV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%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6E7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PLT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PLT · plt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K/uL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6E7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ALT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ALT · GPT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U/L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6E7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BUN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BUN · UREA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mg/dL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6E7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CREA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CREA · Cr · 크레아티닌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mg/dL  (µmol/L로 온 값은 ÷ 88.4)</a:t>
                      </a:r>
                      <a:endParaRPr sz="1400" u="none" cap="none" strike="noStrike"/>
                    </a:p>
                  </a:txBody>
                  <a:tcPr marT="27425" marB="27425" marR="73150" marL="73150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64" name="Google Shape;764;p30"/>
          <p:cNvSpPr txBox="1"/>
          <p:nvPr/>
        </p:nvSpPr>
        <p:spPr>
          <a:xfrm>
            <a:off x="7772400" y="16459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함께 처리하는 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0"/>
          <p:cNvSpPr/>
          <p:nvPr/>
        </p:nvSpPr>
        <p:spPr>
          <a:xfrm>
            <a:off x="7772400" y="2011680"/>
            <a:ext cx="393192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30"/>
          <p:cNvSpPr txBox="1"/>
          <p:nvPr/>
        </p:nvSpPr>
        <p:spPr>
          <a:xfrm>
            <a:off x="7955279" y="210312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6%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0"/>
          <p:cNvSpPr txBox="1"/>
          <p:nvPr/>
        </p:nvSpPr>
        <p:spPr>
          <a:xfrm>
            <a:off x="9418320" y="2139696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결측값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30"/>
          <p:cNvSpPr txBox="1"/>
          <p:nvPr/>
        </p:nvSpPr>
        <p:spPr>
          <a:xfrm>
            <a:off x="9418320" y="2487168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결측 표시 후 결측률 산출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0"/>
          <p:cNvSpPr/>
          <p:nvPr/>
        </p:nvSpPr>
        <p:spPr>
          <a:xfrm>
            <a:off x="7772400" y="3127248"/>
            <a:ext cx="393192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30"/>
          <p:cNvSpPr txBox="1"/>
          <p:nvPr/>
        </p:nvSpPr>
        <p:spPr>
          <a:xfrm>
            <a:off x="7955279" y="3218688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30"/>
          <p:cNvSpPr txBox="1"/>
          <p:nvPr/>
        </p:nvSpPr>
        <p:spPr>
          <a:xfrm>
            <a:off x="9418320" y="3255264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오류로 10배 큰 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30"/>
          <p:cNvSpPr txBox="1"/>
          <p:nvPr/>
        </p:nvSpPr>
        <p:spPr>
          <a:xfrm>
            <a:off x="9418320" y="3602736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범위 점검으로 이상치 처리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0"/>
          <p:cNvSpPr/>
          <p:nvPr/>
        </p:nvSpPr>
        <p:spPr>
          <a:xfrm>
            <a:off x="7772400" y="4242816"/>
            <a:ext cx="393192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30"/>
          <p:cNvSpPr txBox="1"/>
          <p:nvPr/>
        </p:nvSpPr>
        <p:spPr>
          <a:xfrm>
            <a:off x="7955279" y="4334255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B03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CREA 일부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30"/>
          <p:cNvSpPr txBox="1"/>
          <p:nvPr/>
        </p:nvSpPr>
        <p:spPr>
          <a:xfrm>
            <a:off x="9418320" y="4370831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단위 혼재 (µmol/L)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30"/>
          <p:cNvSpPr txBox="1"/>
          <p:nvPr/>
        </p:nvSpPr>
        <p:spPr>
          <a:xfrm>
            <a:off x="9418320" y="4718304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÷ 88.4로 mg/dL 환산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30"/>
          <p:cNvSpPr txBox="1"/>
          <p:nvPr/>
        </p:nvSpPr>
        <p:spPr>
          <a:xfrm>
            <a:off x="502920" y="5349240"/>
            <a:ext cx="1120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가상 데이터에 일부러 넣은 문제입니다. 표준화 전후를 보여주는 시연용이며, 혈액 · 처방 값은 가상입니다.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30"/>
          <p:cNvSpPr/>
          <p:nvPr/>
        </p:nvSpPr>
        <p:spPr>
          <a:xfrm>
            <a:off x="502920" y="5897880"/>
            <a:ext cx="11201400" cy="566928"/>
          </a:xfrm>
          <a:prstGeom prst="rect">
            <a:avLst/>
          </a:prstGeom>
          <a:solidFill>
            <a:srgbClr val="0B5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0"/>
          <p:cNvSpPr txBox="1"/>
          <p:nvPr/>
        </p:nvSpPr>
        <p:spPr>
          <a:xfrm>
            <a:off x="777240" y="5897880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가상 데이터 기반 파이프라인 검증 · 수치는 분석 결론에 사용하지 않음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1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1"/>
          <p:cNvSpPr txBox="1"/>
          <p:nvPr/>
        </p:nvSpPr>
        <p:spPr>
          <a:xfrm>
            <a:off x="713232" y="32918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프로젝트 수행 결과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31"/>
          <p:cNvSpPr txBox="1"/>
          <p:nvPr/>
        </p:nvSpPr>
        <p:spPr>
          <a:xfrm>
            <a:off x="502920" y="585216"/>
            <a:ext cx="11201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 가지 결과가 가리키는 서비스 방향 — 선별 · 멀티모달 · 표준화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1"/>
          <p:cNvSpPr txBox="1"/>
          <p:nvPr/>
        </p:nvSpPr>
        <p:spPr>
          <a:xfrm>
            <a:off x="502920" y="1051560"/>
            <a:ext cx="1120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인사이트 요약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8" name="Google Shape;788;p31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89" name="Google Shape;789;p31"/>
          <p:cNvSpPr/>
          <p:nvPr/>
        </p:nvSpPr>
        <p:spPr>
          <a:xfrm>
            <a:off x="502920" y="1737360"/>
            <a:ext cx="3566160" cy="3886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1"/>
          <p:cNvSpPr txBox="1"/>
          <p:nvPr/>
        </p:nvSpPr>
        <p:spPr>
          <a:xfrm>
            <a:off x="777240" y="1874519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1"/>
          <p:cNvSpPr txBox="1"/>
          <p:nvPr/>
        </p:nvSpPr>
        <p:spPr>
          <a:xfrm>
            <a:off x="777240" y="26060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이상소견 집중 + 드문 고위험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1"/>
          <p:cNvSpPr txBox="1"/>
          <p:nvPr/>
        </p:nvSpPr>
        <p:spPr>
          <a:xfrm>
            <a:off x="777240" y="306324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이상소견의 67%가 슬개골탈구, 골격계종양은 0.3%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31"/>
          <p:cNvSpPr txBox="1"/>
          <p:nvPr/>
        </p:nvSpPr>
        <p:spPr>
          <a:xfrm>
            <a:off x="777240" y="39319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9D0D3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31"/>
          <p:cNvSpPr/>
          <p:nvPr/>
        </p:nvSpPr>
        <p:spPr>
          <a:xfrm>
            <a:off x="777240" y="4343400"/>
            <a:ext cx="3017520" cy="9144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1"/>
          <p:cNvSpPr txBox="1"/>
          <p:nvPr/>
        </p:nvSpPr>
        <p:spPr>
          <a:xfrm>
            <a:off x="777240" y="434340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선별 기능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1"/>
          <p:cNvSpPr/>
          <p:nvPr/>
        </p:nvSpPr>
        <p:spPr>
          <a:xfrm>
            <a:off x="4325112" y="1737360"/>
            <a:ext cx="3566160" cy="3886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1"/>
          <p:cNvSpPr txBox="1"/>
          <p:nvPr/>
        </p:nvSpPr>
        <p:spPr>
          <a:xfrm>
            <a:off x="4599431" y="1874519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C4A6B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31"/>
          <p:cNvSpPr txBox="1"/>
          <p:nvPr/>
        </p:nvSpPr>
        <p:spPr>
          <a:xfrm>
            <a:off x="4599431" y="26060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정보로는 구분 불가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31"/>
          <p:cNvSpPr txBox="1"/>
          <p:nvPr/>
        </p:nvSpPr>
        <p:spPr>
          <a:xfrm>
            <a:off x="4599431" y="306324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나이 · 성별 · 중성화 크래머 V 모두 0.1 미만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31"/>
          <p:cNvSpPr txBox="1"/>
          <p:nvPr/>
        </p:nvSpPr>
        <p:spPr>
          <a:xfrm>
            <a:off x="4599431" y="39319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9D0D3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31"/>
          <p:cNvSpPr/>
          <p:nvPr/>
        </p:nvSpPr>
        <p:spPr>
          <a:xfrm>
            <a:off x="4599431" y="4343400"/>
            <a:ext cx="3017520" cy="914400"/>
          </a:xfrm>
          <a:prstGeom prst="rect">
            <a:avLst/>
          </a:prstGeom>
          <a:solidFill>
            <a:srgbClr val="2C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31"/>
          <p:cNvSpPr txBox="1"/>
          <p:nvPr/>
        </p:nvSpPr>
        <p:spPr>
          <a:xfrm>
            <a:off x="4599431" y="434340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멀티모달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31"/>
          <p:cNvSpPr/>
          <p:nvPr/>
        </p:nvSpPr>
        <p:spPr>
          <a:xfrm>
            <a:off x="8147304" y="1737360"/>
            <a:ext cx="3566160" cy="3886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31"/>
          <p:cNvSpPr txBox="1"/>
          <p:nvPr/>
        </p:nvSpPr>
        <p:spPr>
          <a:xfrm>
            <a:off x="8421624" y="1874519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628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31"/>
          <p:cNvSpPr txBox="1"/>
          <p:nvPr/>
        </p:nvSpPr>
        <p:spPr>
          <a:xfrm>
            <a:off x="8421624" y="26060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병원 간 판정 편차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31"/>
          <p:cNvSpPr txBox="1"/>
          <p:nvPr/>
        </p:nvSpPr>
        <p:spPr>
          <a:xfrm>
            <a:off x="8421624" y="306324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대형 병원 간 이상 판정률 최대 3.8배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31"/>
          <p:cNvSpPr txBox="1"/>
          <p:nvPr/>
        </p:nvSpPr>
        <p:spPr>
          <a:xfrm>
            <a:off x="8421624" y="39319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9D0D3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31"/>
          <p:cNvSpPr/>
          <p:nvPr/>
        </p:nvSpPr>
        <p:spPr>
          <a:xfrm>
            <a:off x="8421624" y="4343400"/>
            <a:ext cx="3017520" cy="9144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31"/>
          <p:cNvSpPr txBox="1"/>
          <p:nvPr/>
        </p:nvSpPr>
        <p:spPr>
          <a:xfrm>
            <a:off x="8421624" y="434340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판독 표준화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31"/>
          <p:cNvSpPr/>
          <p:nvPr/>
        </p:nvSpPr>
        <p:spPr>
          <a:xfrm>
            <a:off x="502920" y="5897880"/>
            <a:ext cx="11201400" cy="56692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1"/>
          <p:cNvSpPr txBox="1"/>
          <p:nvPr/>
        </p:nvSpPr>
        <p:spPr>
          <a:xfrm>
            <a:off x="777240" y="5897880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판독을 “더 잘 읽는 AI”가 아니라, 먼저 볼 것을 고르고 병원 간 기준을 맞추는 판독 보조로 설계한다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32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2"/>
          <p:cNvSpPr txBox="1"/>
          <p:nvPr/>
        </p:nvSpPr>
        <p:spPr>
          <a:xfrm>
            <a:off x="713232" y="32918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프로젝트 수행 결과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32"/>
          <p:cNvSpPr txBox="1"/>
          <p:nvPr/>
        </p:nvSpPr>
        <p:spPr>
          <a:xfrm>
            <a:off x="502920" y="585216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개선안 — 선별 파일럿에서 멀티모달 판독 초안까지 3단계로 구독 전환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32"/>
          <p:cNvSpPr txBox="1"/>
          <p:nvPr/>
        </p:nvSpPr>
        <p:spPr>
          <a:xfrm>
            <a:off x="502920" y="1051560"/>
            <a:ext cx="1120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인사이트 ① → ③ → ② 순서로 서비스화  ·  건당 과금 → 구독형 전환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0" name="Google Shape;820;p32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21" name="Google Shape;821;p32"/>
          <p:cNvSpPr/>
          <p:nvPr/>
        </p:nvSpPr>
        <p:spPr>
          <a:xfrm>
            <a:off x="502920" y="1737360"/>
            <a:ext cx="3703320" cy="914400"/>
          </a:xfrm>
          <a:prstGeom prst="homePlate">
            <a:avLst>
              <a:gd fmla="val 28000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32"/>
          <p:cNvSpPr txBox="1"/>
          <p:nvPr/>
        </p:nvSpPr>
        <p:spPr>
          <a:xfrm>
            <a:off x="731520" y="17373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E3E0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슬개골탈구 선별 파일럿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32"/>
          <p:cNvSpPr/>
          <p:nvPr/>
        </p:nvSpPr>
        <p:spPr>
          <a:xfrm>
            <a:off x="502920" y="2834640"/>
            <a:ext cx="3566160" cy="2057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32"/>
          <p:cNvSpPr txBox="1"/>
          <p:nvPr/>
        </p:nvSpPr>
        <p:spPr>
          <a:xfrm>
            <a:off x="731520" y="29718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인사이트 ① 선별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32"/>
          <p:cNvSpPr txBox="1"/>
          <p:nvPr/>
        </p:nvSpPr>
        <p:spPr>
          <a:xfrm>
            <a:off x="731520" y="338328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판독 대기열 우선순위 자동 정렬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드문 고위험(종양) 알림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32"/>
          <p:cNvSpPr/>
          <p:nvPr/>
        </p:nvSpPr>
        <p:spPr>
          <a:xfrm>
            <a:off x="4325112" y="1737360"/>
            <a:ext cx="3703320" cy="914400"/>
          </a:xfrm>
          <a:prstGeom prst="chevron">
            <a:avLst>
              <a:gd fmla="val 28000" name="adj"/>
            </a:avLst>
          </a:prstGeom>
          <a:solidFill>
            <a:srgbClr val="2C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2"/>
          <p:cNvSpPr txBox="1"/>
          <p:nvPr/>
        </p:nvSpPr>
        <p:spPr>
          <a:xfrm>
            <a:off x="4736592" y="17373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E3E0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병원별 판정 리포트 구독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2"/>
          <p:cNvSpPr/>
          <p:nvPr/>
        </p:nvSpPr>
        <p:spPr>
          <a:xfrm>
            <a:off x="4325112" y="2834640"/>
            <a:ext cx="3566160" cy="2057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32"/>
          <p:cNvSpPr txBox="1"/>
          <p:nvPr/>
        </p:nvSpPr>
        <p:spPr>
          <a:xfrm>
            <a:off x="4553712" y="29718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C4A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인사이트 ③ 표준화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2"/>
          <p:cNvSpPr txBox="1"/>
          <p:nvPr/>
        </p:nvSpPr>
        <p:spPr>
          <a:xfrm>
            <a:off x="4553712" y="338328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병원 간 판정 편차 리포트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기준선 제공 → 갱신율 제고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2"/>
          <p:cNvSpPr/>
          <p:nvPr/>
        </p:nvSpPr>
        <p:spPr>
          <a:xfrm>
            <a:off x="8147304" y="1737360"/>
            <a:ext cx="3703320" cy="914400"/>
          </a:xfrm>
          <a:prstGeom prst="chevron">
            <a:avLst>
              <a:gd fmla="val 28000" name="adj"/>
            </a:avLst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2"/>
          <p:cNvSpPr txBox="1"/>
          <p:nvPr/>
        </p:nvSpPr>
        <p:spPr>
          <a:xfrm>
            <a:off x="8558784" y="17373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E3E0"/>
                </a:solidFill>
                <a:latin typeface="Malgun Gothic"/>
                <a:ea typeface="Malgun Gothic"/>
                <a:cs typeface="Malgun Gothic"/>
                <a:sym typeface="Malgun Gothic"/>
              </a:rPr>
              <a:t>3단계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멀티모달 판독 초안 + 보호자 설명문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32"/>
          <p:cNvSpPr/>
          <p:nvPr/>
        </p:nvSpPr>
        <p:spPr>
          <a:xfrm>
            <a:off x="8147304" y="2834640"/>
            <a:ext cx="3566160" cy="2057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2"/>
          <p:cNvSpPr txBox="1"/>
          <p:nvPr/>
        </p:nvSpPr>
        <p:spPr>
          <a:xfrm>
            <a:off x="8375904" y="29718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628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인사이트 ② 멀티모달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32"/>
          <p:cNvSpPr txBox="1"/>
          <p:nvPr/>
        </p:nvSpPr>
        <p:spPr>
          <a:xfrm>
            <a:off x="8375904" y="338328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 + 검사 + 투약 결합 초안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수의사 승인 필수 (수의사법 제10조)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2"/>
          <p:cNvSpPr/>
          <p:nvPr/>
        </p:nvSpPr>
        <p:spPr>
          <a:xfrm>
            <a:off x="502920" y="5074920"/>
            <a:ext cx="11201400" cy="566928"/>
          </a:xfrm>
          <a:prstGeom prst="rect">
            <a:avLst/>
          </a:prstGeom>
          <a:solidFill>
            <a:srgbClr val="EEF1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2"/>
          <p:cNvSpPr txBox="1"/>
          <p:nvPr/>
        </p:nvSpPr>
        <p:spPr>
          <a:xfrm>
            <a:off x="731520" y="5074920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5F5E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지표 연결  </a:t>
            </a:r>
            <a:r>
              <a:rPr b="0" i="0" lang="en-US" sz="1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갱신율 81% → 95%  ·  구독 매출 비중 5% → 30%  ·  보호자 설명문 발행률 0% → 70%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2"/>
          <p:cNvSpPr/>
          <p:nvPr/>
        </p:nvSpPr>
        <p:spPr>
          <a:xfrm>
            <a:off x="502920" y="5897880"/>
            <a:ext cx="11201400" cy="56692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2"/>
          <p:cNvSpPr txBox="1"/>
          <p:nvPr/>
        </p:nvSpPr>
        <p:spPr>
          <a:xfrm>
            <a:off x="777240" y="5897880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AI는 확정 진단을 내리지 않는다 — 수의사의 판독을 빠르고 일관되게 만드는 보조 도구로 단계적으로 확장한다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83A"/>
        </a:solidFill>
      </p:bgPr>
    </p:bg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3"/>
          <p:cNvSpPr txBox="1"/>
          <p:nvPr/>
        </p:nvSpPr>
        <p:spPr>
          <a:xfrm>
            <a:off x="1005840" y="2286000"/>
            <a:ext cx="2011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</a:pPr>
            <a:r>
              <a:rPr b="1" i="0" lang="en-US" sz="7600" u="none" cap="none" strike="noStrike">
                <a:solidFill>
                  <a:srgbClr val="0E7C7B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33"/>
          <p:cNvSpPr txBox="1"/>
          <p:nvPr/>
        </p:nvSpPr>
        <p:spPr>
          <a:xfrm>
            <a:off x="3017520" y="2606040"/>
            <a:ext cx="822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 평가 의견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4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34"/>
          <p:cNvSpPr txBox="1"/>
          <p:nvPr/>
        </p:nvSpPr>
        <p:spPr>
          <a:xfrm>
            <a:off x="713232" y="32918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 자체 평가 의견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34"/>
          <p:cNvSpPr txBox="1"/>
          <p:nvPr/>
        </p:nvSpPr>
        <p:spPr>
          <a:xfrm>
            <a:off x="502920" y="585216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계획을 실데이터에 맞춰 고쳤고, 결합 효과 검증은 다음 과제로 남았다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34"/>
          <p:cNvSpPr txBox="1"/>
          <p:nvPr/>
        </p:nvSpPr>
        <p:spPr>
          <a:xfrm>
            <a:off x="502920" y="1051560"/>
            <a:ext cx="1120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잘한 점 · 아쉬운 점 · 향후 계획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4" name="Google Shape;854;p34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55" name="Google Shape;855;p34"/>
          <p:cNvSpPr/>
          <p:nvPr/>
        </p:nvSpPr>
        <p:spPr>
          <a:xfrm>
            <a:off x="502920" y="1737360"/>
            <a:ext cx="3566160" cy="5486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34"/>
          <p:cNvSpPr txBox="1"/>
          <p:nvPr/>
        </p:nvSpPr>
        <p:spPr>
          <a:xfrm>
            <a:off x="502920" y="17373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잘한 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4"/>
          <p:cNvSpPr/>
          <p:nvPr/>
        </p:nvSpPr>
        <p:spPr>
          <a:xfrm>
            <a:off x="502920" y="2286000"/>
            <a:ext cx="3566160" cy="33375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34"/>
          <p:cNvSpPr txBox="1"/>
          <p:nvPr/>
        </p:nvSpPr>
        <p:spPr>
          <a:xfrm>
            <a:off x="777240" y="25603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계획 → 실데이터 맞춤 조정 (즉시 착수 104개 → 분석 변수 19개)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교란 점검(촬영 자세)과 질환군 · 축종 보정 비교로 결과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가상 데이터로 ID 매핑 · 코드 표준화 파이프라인 사전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4"/>
          <p:cNvSpPr/>
          <p:nvPr/>
        </p:nvSpPr>
        <p:spPr>
          <a:xfrm>
            <a:off x="4325112" y="1737360"/>
            <a:ext cx="3566160" cy="54864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4"/>
          <p:cNvSpPr txBox="1"/>
          <p:nvPr/>
        </p:nvSpPr>
        <p:spPr>
          <a:xfrm>
            <a:off x="4325112" y="17373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아쉬운 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34"/>
          <p:cNvSpPr/>
          <p:nvPr/>
        </p:nvSpPr>
        <p:spPr>
          <a:xfrm>
            <a:off x="4325112" y="2286000"/>
            <a:ext cx="3566160" cy="33375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4"/>
          <p:cNvSpPr txBox="1"/>
          <p:nvPr/>
        </p:nvSpPr>
        <p:spPr>
          <a:xfrm>
            <a:off x="4599431" y="25603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개체의 영상 + 검사 + 투약 실데이터 미확보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고양이 이상소견 26건 — 축종별 분석 한계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품종 · 체중 등 개체 정보 부재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4"/>
          <p:cNvSpPr/>
          <p:nvPr/>
        </p:nvSpPr>
        <p:spPr>
          <a:xfrm>
            <a:off x="8147304" y="1737360"/>
            <a:ext cx="3566160" cy="548640"/>
          </a:xfrm>
          <a:prstGeom prst="rect">
            <a:avLst/>
          </a:prstGeom>
          <a:solidFill>
            <a:srgbClr val="2C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4"/>
          <p:cNvSpPr txBox="1"/>
          <p:nvPr/>
        </p:nvSpPr>
        <p:spPr>
          <a:xfrm>
            <a:off x="8147304" y="17373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향후 계획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8147304" y="2286000"/>
            <a:ext cx="3566160" cy="33375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4"/>
          <p:cNvSpPr txBox="1"/>
          <p:nvPr/>
        </p:nvSpPr>
        <p:spPr>
          <a:xfrm>
            <a:off x="8421624" y="25603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협력 병원 실데이터로 결합 효과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흉부 · 복부 영상으로 동일 형식 확장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 선별 파일럿으로 현장 효과 측정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4"/>
          <p:cNvSpPr/>
          <p:nvPr/>
        </p:nvSpPr>
        <p:spPr>
          <a:xfrm>
            <a:off x="502920" y="5897880"/>
            <a:ext cx="11201400" cy="56692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4"/>
          <p:cNvSpPr txBox="1"/>
          <p:nvPr/>
        </p:nvSpPr>
        <p:spPr>
          <a:xfrm>
            <a:off x="777240" y="5897880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데이터가 없는 부분을 숨기지 않고 “가상 데이터로 구조 검증 → 실데이터로 효과 검증” 순서로 나눠 진행했다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83A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5"/>
          <p:cNvSpPr txBox="1"/>
          <p:nvPr/>
        </p:nvSpPr>
        <p:spPr>
          <a:xfrm>
            <a:off x="1005840" y="3016387"/>
            <a:ext cx="10058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4" name="Google Shape;874;p35"/>
          <p:cNvCxnSpPr/>
          <p:nvPr/>
        </p:nvCxnSpPr>
        <p:spPr>
          <a:xfrm>
            <a:off x="1005840" y="4069080"/>
            <a:ext cx="2926080" cy="0"/>
          </a:xfrm>
          <a:prstGeom prst="straightConnector1">
            <a:avLst/>
          </a:prstGeom>
          <a:noFill/>
          <a:ln cap="flat" cmpd="sng" w="9525">
            <a:solidFill>
              <a:srgbClr val="3B52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75" name="Google Shape;875;p35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EB9C2"/>
                </a:solidFill>
                <a:latin typeface="Malgun Gothic"/>
                <a:ea typeface="Malgun Gothic"/>
                <a:cs typeface="Malgun Gothic"/>
                <a:sym typeface="Malgun Gothic"/>
              </a:rPr>
              <a:t>5팀 E-Sight  ·  김지영 · 전은지 · 신혜원 · 엄태은 · 이지희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36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0E6E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36"/>
          <p:cNvSpPr txBox="1"/>
          <p:nvPr/>
        </p:nvSpPr>
        <p:spPr>
          <a:xfrm>
            <a:off x="713232" y="329184"/>
            <a:ext cx="9144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부록 — 가상 데이터는 어떻게 만들었나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6"/>
          <p:cNvSpPr txBox="1"/>
          <p:nvPr/>
        </p:nvSpPr>
        <p:spPr>
          <a:xfrm>
            <a:off x="502920" y="585216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가상 데이터로 결합 구조 검증 — 실데이터 분포에 맞춰 만들고, 연결 오류 0건을 확인했다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36"/>
          <p:cNvSpPr txBox="1"/>
          <p:nvPr/>
        </p:nvSpPr>
        <p:spPr>
          <a:xfrm>
            <a:off x="502920" y="1051560"/>
            <a:ext cx="11201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분석계획서 ‘데이터 통합 및 품질 확보’(ID 매핑 · 검사 코드 표준화 · 단위 통일) 시연용  ·  작성 김지영  ·  노트북 E-Sight_dummy_LIS_EMR.ipynb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4" name="Google Shape;884;p36"/>
          <p:cNvCxnSpPr/>
          <p:nvPr/>
        </p:nvCxnSpPr>
        <p:spPr>
          <a:xfrm>
            <a:off x="502920" y="14447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C9D0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85" name="Google Shape;885;p36"/>
          <p:cNvSpPr txBox="1"/>
          <p:nvPr/>
        </p:nvSpPr>
        <p:spPr>
          <a:xfrm>
            <a:off x="502920" y="16459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결합 구조 (1 : 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36"/>
          <p:cNvSpPr/>
          <p:nvPr/>
        </p:nvSpPr>
        <p:spPr>
          <a:xfrm>
            <a:off x="502920" y="2103120"/>
            <a:ext cx="2377440" cy="9144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6"/>
          <p:cNvSpPr txBox="1"/>
          <p:nvPr/>
        </p:nvSpPr>
        <p:spPr>
          <a:xfrm>
            <a:off x="640080" y="21762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6"/>
          <p:cNvSpPr txBox="1"/>
          <p:nvPr/>
        </p:nvSpPr>
        <p:spPr>
          <a:xfrm>
            <a:off x="640080" y="25603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CE6EA"/>
                </a:solidFill>
                <a:latin typeface="Malgun Gothic"/>
                <a:ea typeface="Malgun Gothic"/>
                <a:cs typeface="Malgun Gothic"/>
                <a:sym typeface="Malgun Gothic"/>
              </a:rPr>
              <a:t>2,000</a:t>
            </a:r>
            <a:r>
              <a:rPr b="0" i="0" lang="en-US" sz="1000" u="none" cap="none" strike="noStrike">
                <a:solidFill>
                  <a:srgbClr val="DCE6E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건 · 가상 개체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6"/>
          <p:cNvSpPr/>
          <p:nvPr/>
        </p:nvSpPr>
        <p:spPr>
          <a:xfrm>
            <a:off x="502920" y="3429000"/>
            <a:ext cx="2377440" cy="914400"/>
          </a:xfrm>
          <a:prstGeom prst="rect">
            <a:avLst/>
          </a:prstGeom>
          <a:solidFill>
            <a:srgbClr val="2C4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36"/>
          <p:cNvSpPr txBox="1"/>
          <p:nvPr/>
        </p:nvSpPr>
        <p:spPr>
          <a:xfrm>
            <a:off x="640080" y="350215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imaging_studies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36"/>
          <p:cNvSpPr txBox="1"/>
          <p:nvPr/>
        </p:nvSpPr>
        <p:spPr>
          <a:xfrm>
            <a:off x="640080" y="388620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CE6EA"/>
                </a:solidFill>
                <a:latin typeface="Malgun Gothic"/>
                <a:ea typeface="Malgun Gothic"/>
                <a:cs typeface="Malgun Gothic"/>
                <a:sym typeface="Malgun Gothic"/>
              </a:rPr>
              <a:t>7,519</a:t>
            </a:r>
            <a:r>
              <a:rPr b="0" i="0" lang="en-US" sz="1000" u="none" cap="none" strike="noStrike">
                <a:solidFill>
                  <a:srgbClr val="DCE6E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건 · 가상 영상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36"/>
          <p:cNvSpPr/>
          <p:nvPr/>
        </p:nvSpPr>
        <p:spPr>
          <a:xfrm>
            <a:off x="502920" y="4754880"/>
            <a:ext cx="2377440" cy="9144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6"/>
          <p:cNvSpPr txBox="1"/>
          <p:nvPr/>
        </p:nvSpPr>
        <p:spPr>
          <a:xfrm>
            <a:off x="640080" y="482803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lab_results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36"/>
          <p:cNvSpPr txBox="1"/>
          <p:nvPr/>
        </p:nvSpPr>
        <p:spPr>
          <a:xfrm>
            <a:off x="640080" y="521208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CE6EA"/>
                </a:solidFill>
                <a:latin typeface="Malgun Gothic"/>
                <a:ea typeface="Malgun Gothic"/>
                <a:cs typeface="Malgun Gothic"/>
                <a:sym typeface="Malgun Gothic"/>
              </a:rPr>
              <a:t>42,350</a:t>
            </a:r>
            <a:r>
              <a:rPr b="0" i="0" lang="en-US" sz="1000" u="none" cap="none" strike="noStrike">
                <a:solidFill>
                  <a:srgbClr val="DCE6E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건 · 가상 혈액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36"/>
          <p:cNvSpPr/>
          <p:nvPr/>
        </p:nvSpPr>
        <p:spPr>
          <a:xfrm>
            <a:off x="3108960" y="4754880"/>
            <a:ext cx="2377440" cy="9144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36"/>
          <p:cNvSpPr txBox="1"/>
          <p:nvPr/>
        </p:nvSpPr>
        <p:spPr>
          <a:xfrm>
            <a:off x="3246120" y="482803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prescriptions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36"/>
          <p:cNvSpPr txBox="1"/>
          <p:nvPr/>
        </p:nvSpPr>
        <p:spPr>
          <a:xfrm>
            <a:off x="3246120" y="521208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CE6EA"/>
                </a:solidFill>
                <a:latin typeface="Malgun Gothic"/>
                <a:ea typeface="Malgun Gothic"/>
                <a:cs typeface="Malgun Gothic"/>
                <a:sym typeface="Malgun Gothic"/>
              </a:rPr>
              <a:t>1,443</a:t>
            </a:r>
            <a:r>
              <a:rPr b="0" i="0" lang="en-US" sz="1000" u="none" cap="none" strike="noStrike">
                <a:solidFill>
                  <a:srgbClr val="DCE6E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건 · 가상 처방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8" name="Google Shape;898;p36"/>
          <p:cNvCxnSpPr/>
          <p:nvPr/>
        </p:nvCxnSpPr>
        <p:spPr>
          <a:xfrm>
            <a:off x="1691640" y="3017520"/>
            <a:ext cx="0" cy="411480"/>
          </a:xfrm>
          <a:prstGeom prst="straightConnector1">
            <a:avLst/>
          </a:prstGeom>
          <a:noFill/>
          <a:ln cap="flat" cmpd="sng" w="19050">
            <a:solidFill>
              <a:srgbClr val="6B76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99" name="Google Shape;899;p36"/>
          <p:cNvCxnSpPr/>
          <p:nvPr/>
        </p:nvCxnSpPr>
        <p:spPr>
          <a:xfrm>
            <a:off x="1691640" y="4343400"/>
            <a:ext cx="0" cy="411480"/>
          </a:xfrm>
          <a:prstGeom prst="straightConnector1">
            <a:avLst/>
          </a:prstGeom>
          <a:noFill/>
          <a:ln cap="flat" cmpd="sng" w="19050">
            <a:solidFill>
              <a:srgbClr val="6B76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00" name="Google Shape;900;p36"/>
          <p:cNvCxnSpPr/>
          <p:nvPr/>
        </p:nvCxnSpPr>
        <p:spPr>
          <a:xfrm>
            <a:off x="2880360" y="3886200"/>
            <a:ext cx="1417320" cy="0"/>
          </a:xfrm>
          <a:prstGeom prst="straightConnector1">
            <a:avLst/>
          </a:prstGeom>
          <a:noFill/>
          <a:ln cap="flat" cmpd="sng" w="19050">
            <a:solidFill>
              <a:srgbClr val="6B76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01" name="Google Shape;901;p36"/>
          <p:cNvCxnSpPr/>
          <p:nvPr/>
        </p:nvCxnSpPr>
        <p:spPr>
          <a:xfrm>
            <a:off x="4297680" y="3886200"/>
            <a:ext cx="0" cy="868680"/>
          </a:xfrm>
          <a:prstGeom prst="straightConnector1">
            <a:avLst/>
          </a:prstGeom>
          <a:noFill/>
          <a:ln cap="flat" cmpd="sng" w="19050">
            <a:solidFill>
              <a:srgbClr val="6B76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02" name="Google Shape;902;p36"/>
          <p:cNvSpPr txBox="1"/>
          <p:nvPr/>
        </p:nvSpPr>
        <p:spPr>
          <a:xfrm>
            <a:off x="1783080" y="3090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E6E76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patient_id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6"/>
          <p:cNvSpPr txBox="1"/>
          <p:nvPr/>
        </p:nvSpPr>
        <p:spPr>
          <a:xfrm>
            <a:off x="1783080" y="44165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E6E76"/>
                </a:solidFill>
                <a:latin typeface="Malgun Gothic"/>
                <a:ea typeface="Malgun Gothic"/>
                <a:cs typeface="Malgun Gothic"/>
                <a:sym typeface="Malgun Gothic"/>
              </a:rPr>
              <a:t>study_id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36"/>
          <p:cNvSpPr txBox="1"/>
          <p:nvPr/>
        </p:nvSpPr>
        <p:spPr>
          <a:xfrm>
            <a:off x="3063240" y="36118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E6E76"/>
                </a:solidFill>
                <a:latin typeface="Malgun Gothic"/>
                <a:ea typeface="Malgun Gothic"/>
                <a:cs typeface="Malgun Gothic"/>
                <a:sym typeface="Malgun Gothic"/>
              </a:rPr>
              <a:t>study_id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6"/>
          <p:cNvSpPr txBox="1"/>
          <p:nvPr/>
        </p:nvSpPr>
        <p:spPr>
          <a:xfrm>
            <a:off x="6309360" y="16459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6"/>
          <p:cNvSpPr/>
          <p:nvPr/>
        </p:nvSpPr>
        <p:spPr>
          <a:xfrm>
            <a:off x="6309360" y="201168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36"/>
          <p:cNvSpPr txBox="1"/>
          <p:nvPr/>
        </p:nvSpPr>
        <p:spPr>
          <a:xfrm>
            <a:off x="6309360" y="20116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36"/>
          <p:cNvSpPr txBox="1"/>
          <p:nvPr/>
        </p:nvSpPr>
        <p:spPr>
          <a:xfrm>
            <a:off x="6903720" y="2045951"/>
            <a:ext cx="4800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실데이터 분포에 맞춰 개체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6"/>
          <p:cNvSpPr txBox="1"/>
          <p:nvPr/>
        </p:nvSpPr>
        <p:spPr>
          <a:xfrm>
            <a:off x="6903720" y="2338559"/>
            <a:ext cx="4800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성별 · 병원 · 촬영 방향 · 이상 비율 분포를 실데이터에 맞춤  (예: D_20150929_IF_0028_0295)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36"/>
          <p:cNvSpPr/>
          <p:nvPr/>
        </p:nvSpPr>
        <p:spPr>
          <a:xfrm>
            <a:off x="6309360" y="274320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36"/>
          <p:cNvSpPr txBox="1"/>
          <p:nvPr/>
        </p:nvSpPr>
        <p:spPr>
          <a:xfrm>
            <a:off x="6309360" y="2743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36"/>
          <p:cNvSpPr txBox="1"/>
          <p:nvPr/>
        </p:nvSpPr>
        <p:spPr>
          <a:xfrm>
            <a:off x="6903720" y="2777471"/>
            <a:ext cx="4800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 연결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36"/>
          <p:cNvSpPr txBox="1"/>
          <p:nvPr/>
        </p:nvSpPr>
        <p:spPr>
          <a:xfrm>
            <a:off x="6903720" y="3070079"/>
            <a:ext cx="4800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study_id = 실데이터 fileName 형식 그대로 → 개체 1마리에 영상 여러 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6"/>
          <p:cNvSpPr/>
          <p:nvPr/>
        </p:nvSpPr>
        <p:spPr>
          <a:xfrm>
            <a:off x="6309360" y="347472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36"/>
          <p:cNvSpPr txBox="1"/>
          <p:nvPr/>
        </p:nvSpPr>
        <p:spPr>
          <a:xfrm>
            <a:off x="6309360" y="34747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36"/>
          <p:cNvSpPr txBox="1"/>
          <p:nvPr/>
        </p:nvSpPr>
        <p:spPr>
          <a:xfrm>
            <a:off x="6903720" y="3508991"/>
            <a:ext cx="4800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혈액 · 처방 부착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6"/>
          <p:cNvSpPr txBox="1"/>
          <p:nvPr/>
        </p:nvSpPr>
        <p:spPr>
          <a:xfrm>
            <a:off x="6903720" y="3801599"/>
            <a:ext cx="4800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study_id 기준으로 그날의 혈액검사 · 처방을 붙임 (값은 가상)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36"/>
          <p:cNvSpPr/>
          <p:nvPr/>
        </p:nvSpPr>
        <p:spPr>
          <a:xfrm>
            <a:off x="6309360" y="420624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36"/>
          <p:cNvSpPr txBox="1"/>
          <p:nvPr/>
        </p:nvSpPr>
        <p:spPr>
          <a:xfrm>
            <a:off x="6309360" y="42062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36"/>
          <p:cNvSpPr txBox="1"/>
          <p:nvPr/>
        </p:nvSpPr>
        <p:spPr>
          <a:xfrm>
            <a:off x="6903720" y="4240510"/>
            <a:ext cx="4800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의도적 오류 주입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36"/>
          <p:cNvSpPr txBox="1"/>
          <p:nvPr/>
        </p:nvSpPr>
        <p:spPr>
          <a:xfrm>
            <a:off x="6903720" y="4533119"/>
            <a:ext cx="4800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 표기 혼재(WBC/wbc/백혈구) · 단위 혼재 · 결측 약 6% · 10배 입력 오류 약 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36"/>
          <p:cNvSpPr/>
          <p:nvPr/>
        </p:nvSpPr>
        <p:spPr>
          <a:xfrm>
            <a:off x="6309360" y="4937759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6"/>
          <p:cNvSpPr txBox="1"/>
          <p:nvPr/>
        </p:nvSpPr>
        <p:spPr>
          <a:xfrm>
            <a:off x="6309360" y="4937759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36"/>
          <p:cNvSpPr txBox="1"/>
          <p:nvPr/>
        </p:nvSpPr>
        <p:spPr>
          <a:xfrm>
            <a:off x="6903720" y="4972030"/>
            <a:ext cx="4800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29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무결성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6"/>
          <p:cNvSpPr txBox="1"/>
          <p:nvPr/>
        </p:nvSpPr>
        <p:spPr>
          <a:xfrm>
            <a:off x="6903720" y="5264639"/>
            <a:ext cx="4800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6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날짜 모순 · 연결 실패 0건 확인 → 수치는 결론에 쓰지 않고 구조 · 전처리 시연에만 사용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36"/>
          <p:cNvSpPr/>
          <p:nvPr/>
        </p:nvSpPr>
        <p:spPr>
          <a:xfrm>
            <a:off x="502920" y="5897880"/>
            <a:ext cx="11201400" cy="566928"/>
          </a:xfrm>
          <a:prstGeom prst="rect">
            <a:avLst/>
          </a:prstGeom>
          <a:solidFill>
            <a:srgbClr val="0B5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36"/>
          <p:cNvSpPr txBox="1"/>
          <p:nvPr/>
        </p:nvSpPr>
        <p:spPr>
          <a:xfrm>
            <a:off x="777240" y="5897880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 가상 데이터 기반 파이프라인 검증 · 수치는 분석 결론에 사용하지 않음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